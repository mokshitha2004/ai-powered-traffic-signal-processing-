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4"/>
  </p:notesMasterIdLst>
  <p:sldIdLst>
    <p:sldId id="256" r:id="rId2"/>
    <p:sldId id="257" r:id="rId3"/>
    <p:sldId id="260" r:id="rId4"/>
    <p:sldId id="286" r:id="rId5"/>
    <p:sldId id="285" r:id="rId6"/>
    <p:sldId id="287" r:id="rId7"/>
    <p:sldId id="288" r:id="rId8"/>
    <p:sldId id="289" r:id="rId9"/>
    <p:sldId id="290" r:id="rId10"/>
    <p:sldId id="291" r:id="rId11"/>
    <p:sldId id="292"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178D"/>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7" d="100"/>
          <a:sy n="87" d="100"/>
        </p:scale>
        <p:origin x="528"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8D4B9F-D426-4269-AE74-8089380B69FC}" type="datetimeFigureOut">
              <a:rPr lang="en-IN" smtClean="0"/>
              <a:t>18-11-2025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05BA92-B11F-42B2-9BFD-083DA17A0FAB}" type="slidenum">
              <a:rPr lang="en-IN" smtClean="0"/>
              <a:t>‹#›</a:t>
            </a:fld>
            <a:endParaRPr lang="en-IN"/>
          </a:p>
        </p:txBody>
      </p:sp>
    </p:spTree>
    <p:extLst>
      <p:ext uri="{BB962C8B-B14F-4D97-AF65-F5344CB8AC3E}">
        <p14:creationId xmlns:p14="http://schemas.microsoft.com/office/powerpoint/2010/main" val="10118275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B05BA92-B11F-42B2-9BFD-083DA17A0FAB}" type="slidenum">
              <a:rPr lang="en-IN" smtClean="0"/>
              <a:t>3</a:t>
            </a:fld>
            <a:endParaRPr lang="en-IN"/>
          </a:p>
        </p:txBody>
      </p:sp>
    </p:spTree>
    <p:extLst>
      <p:ext uri="{BB962C8B-B14F-4D97-AF65-F5344CB8AC3E}">
        <p14:creationId xmlns:p14="http://schemas.microsoft.com/office/powerpoint/2010/main" val="27293859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66397-20A9-3B06-21C5-E22F29DC98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98B4B9-FB38-A4D5-DB44-AA44D31F1E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DCDD22-C5AA-228D-688E-A5FA4975F27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B6AA4BA-CA3A-60A7-584D-41D1572BD419}"/>
              </a:ext>
            </a:extLst>
          </p:cNvPr>
          <p:cNvSpPr>
            <a:spLocks noGrp="1"/>
          </p:cNvSpPr>
          <p:nvPr>
            <p:ph type="sldNum" sz="quarter" idx="5"/>
          </p:nvPr>
        </p:nvSpPr>
        <p:spPr/>
        <p:txBody>
          <a:bodyPr/>
          <a:lstStyle/>
          <a:p>
            <a:fld id="{6B05BA92-B11F-42B2-9BFD-083DA17A0FAB}" type="slidenum">
              <a:rPr lang="en-IN" smtClean="0"/>
              <a:t>5</a:t>
            </a:fld>
            <a:endParaRPr lang="en-IN"/>
          </a:p>
        </p:txBody>
      </p:sp>
    </p:spTree>
    <p:extLst>
      <p:ext uri="{BB962C8B-B14F-4D97-AF65-F5344CB8AC3E}">
        <p14:creationId xmlns:p14="http://schemas.microsoft.com/office/powerpoint/2010/main" val="6006533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0F0883C-FD5C-4CFF-AB12-ED523052EF8F}" type="datetimeFigureOut">
              <a:rPr lang="en-IN" smtClean="0"/>
              <a:pPr/>
              <a:t>18-11-2025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EA74D68-FB65-4F39-80C1-2FA9BD1C97CD}" type="slidenum">
              <a:rPr lang="en-IN" smtClean="0"/>
              <a:pPr/>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9897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F0883C-FD5C-4CFF-AB12-ED523052EF8F}" type="datetimeFigureOut">
              <a:rPr lang="en-IN" smtClean="0"/>
              <a:pPr/>
              <a:t>18-11-2025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EA74D68-FB65-4F39-80C1-2FA9BD1C97CD}" type="slidenum">
              <a:rPr lang="en-IN" smtClean="0"/>
              <a:pPr/>
              <a:t>‹#›</a:t>
            </a:fld>
            <a:endParaRPr lang="en-IN"/>
          </a:p>
        </p:txBody>
      </p:sp>
    </p:spTree>
    <p:extLst>
      <p:ext uri="{BB962C8B-B14F-4D97-AF65-F5344CB8AC3E}">
        <p14:creationId xmlns:p14="http://schemas.microsoft.com/office/powerpoint/2010/main" val="3679213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F0883C-FD5C-4CFF-AB12-ED523052EF8F}" type="datetimeFigureOut">
              <a:rPr lang="en-IN" smtClean="0"/>
              <a:pPr/>
              <a:t>18-11-2025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EA74D68-FB65-4F39-80C1-2FA9BD1C97CD}" type="slidenum">
              <a:rPr lang="en-IN" smtClean="0"/>
              <a:pPr/>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1918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0F0883C-FD5C-4CFF-AB12-ED523052EF8F}" type="datetimeFigureOut">
              <a:rPr lang="en-IN" smtClean="0"/>
              <a:pPr/>
              <a:t>18-11-2025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EA74D68-FB65-4F39-80C1-2FA9BD1C97CD}" type="slidenum">
              <a:rPr lang="en-IN" smtClean="0"/>
              <a:pPr/>
              <a:t>‹#›</a:t>
            </a:fld>
            <a:endParaRPr lang="en-IN"/>
          </a:p>
        </p:txBody>
      </p:sp>
    </p:spTree>
    <p:extLst>
      <p:ext uri="{BB962C8B-B14F-4D97-AF65-F5344CB8AC3E}">
        <p14:creationId xmlns:p14="http://schemas.microsoft.com/office/powerpoint/2010/main" val="2681478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0F0883C-FD5C-4CFF-AB12-ED523052EF8F}" type="datetimeFigureOut">
              <a:rPr lang="en-IN" smtClean="0"/>
              <a:pPr/>
              <a:t>18-11-2025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EA74D68-FB65-4F39-80C1-2FA9BD1C97CD}" type="slidenum">
              <a:rPr lang="en-IN" smtClean="0"/>
              <a:pPr/>
              <a:t>‹#›</a:t>
            </a:fld>
            <a:endParaRPr lang="en-IN"/>
          </a:p>
        </p:txBody>
      </p:sp>
    </p:spTree>
    <p:extLst>
      <p:ext uri="{BB962C8B-B14F-4D97-AF65-F5344CB8AC3E}">
        <p14:creationId xmlns:p14="http://schemas.microsoft.com/office/powerpoint/2010/main" val="551000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0F0883C-FD5C-4CFF-AB12-ED523052EF8F}" type="datetimeFigureOut">
              <a:rPr lang="en-IN" smtClean="0"/>
              <a:pPr/>
              <a:t>18-11-2025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EA74D68-FB65-4F39-80C1-2FA9BD1C97CD}" type="slidenum">
              <a:rPr lang="en-IN" smtClean="0"/>
              <a:pPr/>
              <a:t>‹#›</a:t>
            </a:fld>
            <a:endParaRPr lang="en-IN"/>
          </a:p>
        </p:txBody>
      </p:sp>
    </p:spTree>
    <p:extLst>
      <p:ext uri="{BB962C8B-B14F-4D97-AF65-F5344CB8AC3E}">
        <p14:creationId xmlns:p14="http://schemas.microsoft.com/office/powerpoint/2010/main" val="18316871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0F0883C-FD5C-4CFF-AB12-ED523052EF8F}" type="datetimeFigureOut">
              <a:rPr lang="en-IN" smtClean="0"/>
              <a:pPr/>
              <a:t>18-11-2025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4EA74D68-FB65-4F39-80C1-2FA9BD1C97CD}" type="slidenum">
              <a:rPr lang="en-IN" smtClean="0"/>
              <a:pPr/>
              <a:t>‹#›</a:t>
            </a:fld>
            <a:endParaRPr lang="en-IN"/>
          </a:p>
        </p:txBody>
      </p:sp>
    </p:spTree>
    <p:extLst>
      <p:ext uri="{BB962C8B-B14F-4D97-AF65-F5344CB8AC3E}">
        <p14:creationId xmlns:p14="http://schemas.microsoft.com/office/powerpoint/2010/main" val="4185406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0F0883C-FD5C-4CFF-AB12-ED523052EF8F}" type="datetimeFigureOut">
              <a:rPr lang="en-IN" smtClean="0"/>
              <a:pPr/>
              <a:t>18-11-2025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EA74D68-FB65-4F39-80C1-2FA9BD1C97CD}" type="slidenum">
              <a:rPr lang="en-IN" smtClean="0"/>
              <a:pPr/>
              <a:t>‹#›</a:t>
            </a:fld>
            <a:endParaRPr lang="en-IN"/>
          </a:p>
        </p:txBody>
      </p:sp>
    </p:spTree>
    <p:extLst>
      <p:ext uri="{BB962C8B-B14F-4D97-AF65-F5344CB8AC3E}">
        <p14:creationId xmlns:p14="http://schemas.microsoft.com/office/powerpoint/2010/main" val="1696050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F0883C-FD5C-4CFF-AB12-ED523052EF8F}" type="datetimeFigureOut">
              <a:rPr lang="en-IN" smtClean="0"/>
              <a:pPr/>
              <a:t>18-11-2025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EA74D68-FB65-4F39-80C1-2FA9BD1C97CD}" type="slidenum">
              <a:rPr lang="en-IN" smtClean="0"/>
              <a:pPr/>
              <a:t>‹#›</a:t>
            </a:fld>
            <a:endParaRPr lang="en-IN"/>
          </a:p>
        </p:txBody>
      </p:sp>
    </p:spTree>
    <p:extLst>
      <p:ext uri="{BB962C8B-B14F-4D97-AF65-F5344CB8AC3E}">
        <p14:creationId xmlns:p14="http://schemas.microsoft.com/office/powerpoint/2010/main" val="19829700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F0883C-FD5C-4CFF-AB12-ED523052EF8F}" type="datetimeFigureOut">
              <a:rPr lang="en-IN" smtClean="0"/>
              <a:pPr/>
              <a:t>18-11-2025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EA74D68-FB65-4F39-80C1-2FA9BD1C97CD}" type="slidenum">
              <a:rPr lang="en-IN" smtClean="0"/>
              <a:pPr/>
              <a:t>‹#›</a:t>
            </a:fld>
            <a:endParaRPr lang="en-IN"/>
          </a:p>
        </p:txBody>
      </p:sp>
    </p:spTree>
    <p:extLst>
      <p:ext uri="{BB962C8B-B14F-4D97-AF65-F5344CB8AC3E}">
        <p14:creationId xmlns:p14="http://schemas.microsoft.com/office/powerpoint/2010/main" val="31265746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F0883C-FD5C-4CFF-AB12-ED523052EF8F}" type="datetimeFigureOut">
              <a:rPr lang="en-IN" smtClean="0"/>
              <a:pPr/>
              <a:t>18-11-2025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EA74D68-FB65-4F39-80C1-2FA9BD1C97CD}" type="slidenum">
              <a:rPr lang="en-IN" smtClean="0"/>
              <a:pPr/>
              <a:t>‹#›</a:t>
            </a:fld>
            <a:endParaRPr lang="en-IN"/>
          </a:p>
        </p:txBody>
      </p:sp>
    </p:spTree>
    <p:extLst>
      <p:ext uri="{BB962C8B-B14F-4D97-AF65-F5344CB8AC3E}">
        <p14:creationId xmlns:p14="http://schemas.microsoft.com/office/powerpoint/2010/main" val="3607552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0F0883C-FD5C-4CFF-AB12-ED523052EF8F}" type="datetimeFigureOut">
              <a:rPr lang="en-IN" smtClean="0"/>
              <a:pPr/>
              <a:t>18-11-2025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EA74D68-FB65-4F39-80C1-2FA9BD1C97CD}" type="slidenum">
              <a:rPr lang="en-IN" smtClean="0"/>
              <a:pPr/>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030924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7.xml"/><Relationship Id="rId4"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39B642A-5670-4807-2856-F7722EEEBCC1}"/>
              </a:ext>
            </a:extLst>
          </p:cNvPr>
          <p:cNvSpPr txBox="1"/>
          <p:nvPr/>
        </p:nvSpPr>
        <p:spPr>
          <a:xfrm>
            <a:off x="1101167" y="2061064"/>
            <a:ext cx="9989663" cy="461665"/>
          </a:xfrm>
          <a:prstGeom prst="rect">
            <a:avLst/>
          </a:prstGeom>
          <a:noFill/>
        </p:spPr>
        <p:txBody>
          <a:bodyPr wrap="square">
            <a:spAutoFit/>
          </a:bodyPr>
          <a:lstStyle/>
          <a:p>
            <a:r>
              <a:rPr lang="en-US" sz="2400" b="1" dirty="0">
                <a:solidFill>
                  <a:srgbClr val="36178D"/>
                </a:solidFill>
                <a:effectLst/>
                <a:latin typeface="Times New Roman" panose="02020603050405020304" pitchFamily="18" charset="0"/>
                <a:ea typeface="Times New Roman" panose="02020603050405020304" pitchFamily="18" charset="0"/>
                <a:cs typeface="Times New Roman" panose="02020603050405020304" pitchFamily="18" charset="0"/>
              </a:rPr>
              <a:t> DEPARTMENT OF ARTIFICIAL INTELLIGENCE &amp; DATA SCIENCE</a:t>
            </a:r>
          </a:p>
        </p:txBody>
      </p:sp>
      <p:sp>
        <p:nvSpPr>
          <p:cNvPr id="8" name="TextBox 7">
            <a:extLst>
              <a:ext uri="{FF2B5EF4-FFF2-40B4-BE49-F238E27FC236}">
                <a16:creationId xmlns:a16="http://schemas.microsoft.com/office/drawing/2014/main" id="{44655B4E-02FF-0206-7DF0-090872BC8D1C}"/>
              </a:ext>
            </a:extLst>
          </p:cNvPr>
          <p:cNvSpPr txBox="1"/>
          <p:nvPr/>
        </p:nvSpPr>
        <p:spPr>
          <a:xfrm>
            <a:off x="2858678" y="2602687"/>
            <a:ext cx="6094428" cy="369332"/>
          </a:xfrm>
          <a:prstGeom prst="rect">
            <a:avLst/>
          </a:prstGeom>
          <a:noFill/>
        </p:spPr>
        <p:txBody>
          <a:bodyPr wrap="square">
            <a:spAutoFit/>
          </a:bodyPr>
          <a:lstStyle/>
          <a:p>
            <a:pPr algn="ctr"/>
            <a:r>
              <a:rPr lang="en-IN" b="1" dirty="0">
                <a:latin typeface="Times New Roman" panose="02020603050405020304" pitchFamily="18" charset="0"/>
                <a:cs typeface="Times New Roman" panose="02020603050405020304" pitchFamily="18" charset="0"/>
              </a:rPr>
              <a:t>PROJECT WORK (BAD786)</a:t>
            </a:r>
          </a:p>
        </p:txBody>
      </p:sp>
      <p:pic>
        <p:nvPicPr>
          <p:cNvPr id="9" name="Picture 8">
            <a:extLst>
              <a:ext uri="{FF2B5EF4-FFF2-40B4-BE49-F238E27FC236}">
                <a16:creationId xmlns:a16="http://schemas.microsoft.com/office/drawing/2014/main" id="{D2C4592A-E5C3-F5B0-67FB-CA51366F1D3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7942" y="256034"/>
            <a:ext cx="1276654" cy="113385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1" name="TextBox 10">
            <a:extLst>
              <a:ext uri="{FF2B5EF4-FFF2-40B4-BE49-F238E27FC236}">
                <a16:creationId xmlns:a16="http://schemas.microsoft.com/office/drawing/2014/main" id="{B156E584-9D97-88B8-A137-A0327BF60E3E}"/>
              </a:ext>
            </a:extLst>
          </p:cNvPr>
          <p:cNvSpPr txBox="1"/>
          <p:nvPr/>
        </p:nvSpPr>
        <p:spPr>
          <a:xfrm>
            <a:off x="2684675" y="3219686"/>
            <a:ext cx="6822648" cy="400110"/>
          </a:xfrm>
          <a:prstGeom prst="rect">
            <a:avLst/>
          </a:prstGeom>
          <a:noFill/>
        </p:spPr>
        <p:txBody>
          <a:bodyPr wrap="square">
            <a:spAutoFit/>
          </a:bodyPr>
          <a:lstStyle/>
          <a:p>
            <a:pPr algn="ctr"/>
            <a:r>
              <a:rPr lang="en-US" sz="2000" b="1" dirty="0">
                <a:solidFill>
                  <a:srgbClr val="CC0000"/>
                </a:solidFill>
                <a:latin typeface="Times New Roman" panose="02020603050405020304" pitchFamily="18" charset="0"/>
                <a:cs typeface="Times New Roman" panose="02020603050405020304" pitchFamily="18" charset="0"/>
              </a:rPr>
              <a:t>“AI Powered Traffic Signal Processing”</a:t>
            </a:r>
            <a:endParaRPr lang="en-IN" sz="2000" b="1" dirty="0">
              <a:solidFill>
                <a:srgbClr val="CC0000"/>
              </a:solidFill>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BE68C951-97A5-F9B5-081D-49E4F4251544}"/>
              </a:ext>
            </a:extLst>
          </p:cNvPr>
          <p:cNvSpPr txBox="1"/>
          <p:nvPr/>
        </p:nvSpPr>
        <p:spPr>
          <a:xfrm>
            <a:off x="6871855" y="4515719"/>
            <a:ext cx="4544290" cy="1754326"/>
          </a:xfrm>
          <a:prstGeom prst="rect">
            <a:avLst/>
          </a:prstGeom>
          <a:noFill/>
        </p:spPr>
        <p:txBody>
          <a:bodyPr wrap="square">
            <a:spAutoFit/>
          </a:bodyPr>
          <a:lstStyle/>
          <a:p>
            <a:pPr algn="ctr" defTabSz="685766"/>
            <a:r>
              <a:rPr lang="en-IN" b="1" i="1" u="sng" dirty="0">
                <a:solidFill>
                  <a:srgbClr val="FF0000"/>
                </a:solidFill>
                <a:latin typeface="Times New Roman" pitchFamily="18" charset="0"/>
                <a:cs typeface="Times New Roman" pitchFamily="18" charset="0"/>
              </a:rPr>
              <a:t>Presented  by:</a:t>
            </a:r>
            <a:r>
              <a:rPr lang="en-IN" b="1" dirty="0">
                <a:solidFill>
                  <a:srgbClr val="FF0000"/>
                </a:solidFill>
                <a:latin typeface="Times New Roman" pitchFamily="18" charset="0"/>
                <a:cs typeface="Times New Roman" pitchFamily="18" charset="0"/>
              </a:rPr>
              <a:t> </a:t>
            </a:r>
          </a:p>
          <a:p>
            <a:pPr algn="ctr" defTabSz="685766"/>
            <a:r>
              <a:rPr lang="en-IN" b="1" dirty="0">
                <a:solidFill>
                  <a:srgbClr val="36178D"/>
                </a:solidFill>
                <a:latin typeface="Times New Roman" pitchFamily="18" charset="0"/>
                <a:cs typeface="Times New Roman" pitchFamily="18" charset="0"/>
              </a:rPr>
              <a:t>Harshitha V               1KG22AD020</a:t>
            </a:r>
          </a:p>
          <a:p>
            <a:pPr algn="ctr" defTabSz="685766"/>
            <a:r>
              <a:rPr lang="en-IN" b="1" dirty="0">
                <a:solidFill>
                  <a:srgbClr val="36178D"/>
                </a:solidFill>
                <a:latin typeface="Times New Roman" pitchFamily="18" charset="0"/>
                <a:cs typeface="Times New Roman" pitchFamily="18" charset="0"/>
              </a:rPr>
              <a:t>M Joshna                    1KG22AD034</a:t>
            </a:r>
          </a:p>
          <a:p>
            <a:pPr algn="ctr" defTabSz="685766"/>
            <a:r>
              <a:rPr lang="en-IN" b="1" dirty="0">
                <a:solidFill>
                  <a:srgbClr val="36178D"/>
                </a:solidFill>
                <a:latin typeface="Times New Roman" pitchFamily="18" charset="0"/>
                <a:cs typeface="Times New Roman" pitchFamily="18" charset="0"/>
              </a:rPr>
              <a:t>Mokshitha S Thota    1KG22AD039</a:t>
            </a:r>
          </a:p>
          <a:p>
            <a:pPr algn="ctr" defTabSz="685766"/>
            <a:r>
              <a:rPr lang="en-IN" b="1" dirty="0">
                <a:solidFill>
                  <a:srgbClr val="36178D"/>
                </a:solidFill>
                <a:latin typeface="Times New Roman" pitchFamily="18" charset="0"/>
                <a:cs typeface="Times New Roman" pitchFamily="18" charset="0"/>
              </a:rPr>
              <a:t>R Alekhya                   1KG22AD045</a:t>
            </a:r>
          </a:p>
          <a:p>
            <a:pPr algn="ctr" defTabSz="685766"/>
            <a:endParaRPr lang="en-IN" b="1" dirty="0">
              <a:solidFill>
                <a:srgbClr val="36178D"/>
              </a:solidFill>
              <a:latin typeface="Times New Roman" pitchFamily="18" charset="0"/>
              <a:cs typeface="Times New Roman" pitchFamily="18" charset="0"/>
            </a:endParaRPr>
          </a:p>
        </p:txBody>
      </p:sp>
      <p:sp>
        <p:nvSpPr>
          <p:cNvPr id="15" name="TextBox 14">
            <a:extLst>
              <a:ext uri="{FF2B5EF4-FFF2-40B4-BE49-F238E27FC236}">
                <a16:creationId xmlns:a16="http://schemas.microsoft.com/office/drawing/2014/main" id="{6BDF5B37-0045-226C-8A4C-A5D0BA8CBC33}"/>
              </a:ext>
            </a:extLst>
          </p:cNvPr>
          <p:cNvSpPr txBox="1"/>
          <p:nvPr/>
        </p:nvSpPr>
        <p:spPr>
          <a:xfrm>
            <a:off x="451701" y="4515719"/>
            <a:ext cx="4465947" cy="1477328"/>
          </a:xfrm>
          <a:prstGeom prst="rect">
            <a:avLst/>
          </a:prstGeom>
          <a:noFill/>
        </p:spPr>
        <p:txBody>
          <a:bodyPr wrap="square">
            <a:spAutoFit/>
          </a:bodyPr>
          <a:lstStyle/>
          <a:p>
            <a:pPr algn="ctr"/>
            <a:r>
              <a:rPr lang="en-US" b="1" i="1" u="sng"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Under the guidance of: </a:t>
            </a:r>
          </a:p>
          <a:p>
            <a:pPr algn="ctr"/>
            <a:r>
              <a:rPr lang="en-US" dirty="0">
                <a:ln w="0"/>
                <a:solidFill>
                  <a:srgbClr val="36178D"/>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Mrs. P S Geetha</a:t>
            </a:r>
          </a:p>
          <a:p>
            <a:pPr algn="ctr"/>
            <a:r>
              <a:rPr lang="en-US" dirty="0">
                <a:ln w="0"/>
                <a:solidFill>
                  <a:srgbClr val="36178D"/>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Assistant Professor</a:t>
            </a:r>
          </a:p>
          <a:p>
            <a:pPr algn="ctr"/>
            <a:r>
              <a:rPr lang="en-US" dirty="0">
                <a:ln w="0"/>
                <a:solidFill>
                  <a:srgbClr val="36178D"/>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Dept., of  AI &amp; DS, KSSEM </a:t>
            </a:r>
            <a:endParaRPr lang="en-IN" dirty="0">
              <a:solidFill>
                <a:srgbClr val="36178D"/>
              </a:solidFill>
            </a:endParaRPr>
          </a:p>
          <a:p>
            <a:endParaRPr lang="en-IN" dirty="0">
              <a:solidFill>
                <a:schemeClr val="tx2">
                  <a:lumMod val="75000"/>
                </a:schemeClr>
              </a:solidFill>
            </a:endParaRPr>
          </a:p>
        </p:txBody>
      </p:sp>
      <p:sp>
        <p:nvSpPr>
          <p:cNvPr id="10" name="TextBox 9"/>
          <p:cNvSpPr txBox="1"/>
          <p:nvPr/>
        </p:nvSpPr>
        <p:spPr>
          <a:xfrm>
            <a:off x="1005840" y="237744"/>
            <a:ext cx="9912096" cy="1938992"/>
          </a:xfrm>
          <a:prstGeom prst="rect">
            <a:avLst/>
          </a:prstGeom>
          <a:noFill/>
        </p:spPr>
        <p:txBody>
          <a:bodyPr wrap="square" rtlCol="0">
            <a:spAutoFit/>
          </a:bodyPr>
          <a:lstStyle/>
          <a:p>
            <a:pPr lvl="0" algn="ctr"/>
            <a:r>
              <a:rPr lang="en-US" dirty="0" err="1">
                <a:solidFill>
                  <a:srgbClr val="FF0000"/>
                </a:solidFill>
                <a:latin typeface="Times New Roman"/>
                <a:ea typeface="Times New Roman"/>
                <a:cs typeface="Times New Roman"/>
                <a:sym typeface="Times New Roman"/>
              </a:rPr>
              <a:t>Kammavari</a:t>
            </a:r>
            <a:r>
              <a:rPr lang="en-US" dirty="0">
                <a:solidFill>
                  <a:srgbClr val="FF0000"/>
                </a:solidFill>
                <a:latin typeface="Times New Roman"/>
                <a:ea typeface="Times New Roman"/>
                <a:cs typeface="Times New Roman"/>
                <a:sym typeface="Times New Roman"/>
              </a:rPr>
              <a:t> </a:t>
            </a:r>
            <a:r>
              <a:rPr lang="en-US" dirty="0" err="1">
                <a:solidFill>
                  <a:srgbClr val="FF0000"/>
                </a:solidFill>
                <a:latin typeface="Times New Roman"/>
                <a:ea typeface="Times New Roman"/>
                <a:cs typeface="Times New Roman"/>
                <a:sym typeface="Times New Roman"/>
              </a:rPr>
              <a:t>Sangham</a:t>
            </a:r>
            <a:r>
              <a:rPr lang="en-US" dirty="0">
                <a:solidFill>
                  <a:srgbClr val="FF0000"/>
                </a:solidFill>
                <a:latin typeface="Times New Roman"/>
                <a:ea typeface="Times New Roman"/>
                <a:cs typeface="Times New Roman"/>
                <a:sym typeface="Times New Roman"/>
              </a:rPr>
              <a:t> (R) 1952, </a:t>
            </a:r>
            <a:r>
              <a:rPr lang="en-US" dirty="0" err="1">
                <a:solidFill>
                  <a:srgbClr val="FF0000"/>
                </a:solidFill>
                <a:latin typeface="Times New Roman"/>
                <a:ea typeface="Times New Roman"/>
                <a:cs typeface="Times New Roman"/>
                <a:sym typeface="Times New Roman"/>
              </a:rPr>
              <a:t>K.S.Group</a:t>
            </a:r>
            <a:r>
              <a:rPr lang="en-US" dirty="0">
                <a:solidFill>
                  <a:srgbClr val="FF0000"/>
                </a:solidFill>
                <a:latin typeface="Times New Roman"/>
                <a:ea typeface="Times New Roman"/>
                <a:cs typeface="Times New Roman"/>
                <a:sym typeface="Times New Roman"/>
              </a:rPr>
              <a:t> of Institutions</a:t>
            </a:r>
            <a:endParaRPr lang="en-US" dirty="0"/>
          </a:p>
          <a:p>
            <a:pPr lvl="0" algn="ctr"/>
            <a:r>
              <a:rPr lang="en-US" sz="2400" b="1" dirty="0">
                <a:solidFill>
                  <a:srgbClr val="171973"/>
                </a:solidFill>
                <a:latin typeface="Times New Roman"/>
                <a:ea typeface="Times New Roman"/>
                <a:cs typeface="Times New Roman"/>
                <a:sym typeface="Times New Roman"/>
              </a:rPr>
              <a:t>K. S SCHOOL OF ENGINEERING AND MANAGEMENT, BENGALURU-560109</a:t>
            </a:r>
            <a:br>
              <a:rPr lang="en-US" sz="2000" b="1" dirty="0">
                <a:solidFill>
                  <a:srgbClr val="FF0000"/>
                </a:solidFill>
                <a:latin typeface="Times New Roman" pitchFamily="18" charset="0"/>
                <a:ea typeface="Times New Roman" pitchFamily="18" charset="0"/>
                <a:cs typeface="Times New Roman" pitchFamily="18" charset="0"/>
              </a:rPr>
            </a:br>
            <a:r>
              <a:rPr lang="en-US" b="1" dirty="0">
                <a:solidFill>
                  <a:schemeClr val="accent1">
                    <a:lumMod val="50000"/>
                  </a:schemeClr>
                </a:solidFill>
                <a:latin typeface="Times New Roman" pitchFamily="18" charset="0"/>
                <a:ea typeface="Times New Roman" pitchFamily="18" charset="0"/>
                <a:cs typeface="Times New Roman" pitchFamily="18" charset="0"/>
              </a:rPr>
              <a:t>(</a:t>
            </a:r>
            <a:r>
              <a:rPr lang="en-IN" b="1" dirty="0">
                <a:solidFill>
                  <a:schemeClr val="accent1">
                    <a:lumMod val="50000"/>
                  </a:schemeClr>
                </a:solidFill>
                <a:latin typeface="Times New Roman"/>
                <a:ea typeface="Times New Roman"/>
                <a:cs typeface="Times New Roman"/>
                <a:sym typeface="Times New Roman"/>
              </a:rPr>
              <a:t>Affiliated to VTU, </a:t>
            </a:r>
            <a:r>
              <a:rPr lang="en-IN" b="1" dirty="0" err="1">
                <a:solidFill>
                  <a:schemeClr val="accent1">
                    <a:lumMod val="50000"/>
                  </a:schemeClr>
                </a:solidFill>
                <a:latin typeface="Times New Roman"/>
                <a:ea typeface="Times New Roman"/>
                <a:cs typeface="Times New Roman"/>
                <a:sym typeface="Times New Roman"/>
              </a:rPr>
              <a:t>Belagavi</a:t>
            </a:r>
            <a:r>
              <a:rPr lang="en-IN" b="1" dirty="0">
                <a:solidFill>
                  <a:schemeClr val="accent1">
                    <a:lumMod val="50000"/>
                  </a:schemeClr>
                </a:solidFill>
                <a:latin typeface="Times New Roman"/>
                <a:ea typeface="Times New Roman"/>
                <a:cs typeface="Times New Roman"/>
                <a:sym typeface="Times New Roman"/>
              </a:rPr>
              <a:t> &amp; Approved by AICTE, New Delhi, </a:t>
            </a:r>
            <a:r>
              <a:rPr lang="en-IN" b="1" dirty="0">
                <a:solidFill>
                  <a:srgbClr val="FF0000"/>
                </a:solidFill>
                <a:latin typeface="Times New Roman"/>
                <a:ea typeface="Times New Roman"/>
                <a:cs typeface="Times New Roman"/>
                <a:sym typeface="Times New Roman"/>
              </a:rPr>
              <a:t>Accredited by NAAC</a:t>
            </a:r>
            <a:r>
              <a:rPr lang="en-IN" b="1" dirty="0">
                <a:solidFill>
                  <a:schemeClr val="accent1">
                    <a:lumMod val="50000"/>
                  </a:schemeClr>
                </a:solidFill>
                <a:latin typeface="Times New Roman"/>
                <a:ea typeface="Times New Roman"/>
                <a:cs typeface="Times New Roman"/>
                <a:sym typeface="Times New Roman"/>
              </a:rPr>
              <a:t>)</a:t>
            </a:r>
            <a:br>
              <a:rPr lang="en-US" b="1" dirty="0">
                <a:solidFill>
                  <a:srgbClr val="C00000"/>
                </a:solidFill>
                <a:latin typeface="Times New Roman" pitchFamily="18" charset="0"/>
                <a:ea typeface="Times New Roman" pitchFamily="18" charset="0"/>
                <a:cs typeface="Times New Roman" pitchFamily="18" charset="0"/>
              </a:rPr>
            </a:br>
            <a:endParaRPr lang="en-IN" dirty="0"/>
          </a:p>
          <a:p>
            <a:endParaRPr lang="en-US" dirty="0"/>
          </a:p>
        </p:txBody>
      </p:sp>
      <p:pic>
        <p:nvPicPr>
          <p:cNvPr id="12" name="Google Shape;231;p1"/>
          <p:cNvPicPr preferRelativeResize="0"/>
          <p:nvPr/>
        </p:nvPicPr>
        <p:blipFill rotWithShape="1">
          <a:blip r:embed="rId3">
            <a:alphaModFix/>
          </a:blip>
          <a:srcRect/>
          <a:stretch/>
        </p:blipFill>
        <p:spPr>
          <a:xfrm>
            <a:off x="299118" y="238899"/>
            <a:ext cx="1346802" cy="1291665"/>
          </a:xfrm>
          <a:prstGeom prst="rect">
            <a:avLst/>
          </a:prstGeom>
          <a:noFill/>
          <a:ln>
            <a:noFill/>
          </a:ln>
        </p:spPr>
      </p:pic>
    </p:spTree>
    <p:extLst>
      <p:ext uri="{BB962C8B-B14F-4D97-AF65-F5344CB8AC3E}">
        <p14:creationId xmlns:p14="http://schemas.microsoft.com/office/powerpoint/2010/main" val="3420013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42F2942-C9E9-6256-E340-2772D6146783}"/>
              </a:ext>
            </a:extLst>
          </p:cNvPr>
          <p:cNvSpPr txBox="1"/>
          <p:nvPr/>
        </p:nvSpPr>
        <p:spPr>
          <a:xfrm>
            <a:off x="3048786" y="432657"/>
            <a:ext cx="6094428" cy="452560"/>
          </a:xfrm>
          <a:prstGeom prst="rect">
            <a:avLst/>
          </a:prstGeom>
          <a:noFill/>
        </p:spPr>
        <p:txBody>
          <a:bodyPr wrap="square">
            <a:spAutoFit/>
          </a:bodyPr>
          <a:lstStyle/>
          <a:p>
            <a:pPr marL="0" marR="0" lvl="0" indent="0" algn="ctr" rtl="0">
              <a:lnSpc>
                <a:spcPct val="104000"/>
              </a:lnSpc>
              <a:spcBef>
                <a:spcPts val="0"/>
              </a:spcBef>
              <a:spcAft>
                <a:spcPts val="0"/>
              </a:spcAft>
              <a:buClr>
                <a:srgbClr val="FFFFFF"/>
              </a:buClr>
              <a:buSzPts val="3600"/>
              <a:buFont typeface="Arial"/>
              <a:buNone/>
            </a:pPr>
            <a:r>
              <a:rPr lang="en-US" sz="2400" b="1" u="sng" dirty="0">
                <a:solidFill>
                  <a:schemeClr val="accent1">
                    <a:lumMod val="75000"/>
                  </a:schemeClr>
                </a:solidFill>
                <a:latin typeface="Times New Roman" panose="02020603050405020304" pitchFamily="18" charset="0"/>
                <a:ea typeface="Arial"/>
                <a:cs typeface="Times New Roman" panose="02020603050405020304" pitchFamily="18" charset="0"/>
                <a:sym typeface="Arial"/>
              </a:rPr>
              <a:t>AGENDA</a:t>
            </a:r>
            <a:endParaRPr lang="en-US" sz="2400" u="sng"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04DA26A-2C07-F6F8-DED7-8D874ABC4EF4}"/>
              </a:ext>
            </a:extLst>
          </p:cNvPr>
          <p:cNvSpPr txBox="1"/>
          <p:nvPr/>
        </p:nvSpPr>
        <p:spPr>
          <a:xfrm>
            <a:off x="1543637" y="1835342"/>
            <a:ext cx="7167744" cy="2308324"/>
          </a:xfrm>
          <a:prstGeom prst="rect">
            <a:avLst/>
          </a:prstGeom>
          <a:noFill/>
        </p:spPr>
        <p:txBody>
          <a:bodyPr wrap="square">
            <a:spAutoFit/>
          </a:bodyPr>
          <a:lstStyle/>
          <a:p>
            <a:pPr marL="342900" lvl="0" indent="-342900">
              <a:buClr>
                <a:schemeClr val="dk1"/>
              </a:buClr>
              <a:buSzPts val="2800"/>
              <a:buFont typeface="Arial"/>
              <a:buChar char="•"/>
            </a:pPr>
            <a:r>
              <a:rPr lang="en-US" sz="2400" b="1" dirty="0">
                <a:solidFill>
                  <a:schemeClr val="dk1"/>
                </a:solidFill>
                <a:latin typeface="Times New Roman"/>
                <a:ea typeface="Times New Roman"/>
                <a:cs typeface="Times New Roman"/>
                <a:sym typeface="Times New Roman"/>
              </a:rPr>
              <a:t>Introduction</a:t>
            </a:r>
            <a:endParaRPr lang="en-US" sz="2400" dirty="0"/>
          </a:p>
          <a:p>
            <a:pPr marL="342900" lvl="0" indent="-342900">
              <a:buClr>
                <a:schemeClr val="dk1"/>
              </a:buClr>
              <a:buSzPts val="2800"/>
              <a:buFont typeface="Arial"/>
              <a:buChar char="•"/>
            </a:pPr>
            <a:r>
              <a:rPr lang="en-US" sz="2400" b="1" dirty="0">
                <a:solidFill>
                  <a:schemeClr val="dk1"/>
                </a:solidFill>
                <a:latin typeface="Times New Roman"/>
                <a:ea typeface="Times New Roman"/>
                <a:cs typeface="Times New Roman"/>
                <a:sym typeface="Times New Roman"/>
              </a:rPr>
              <a:t>Problem Statement</a:t>
            </a:r>
            <a:endParaRPr lang="en-US" sz="2400" dirty="0"/>
          </a:p>
          <a:p>
            <a:pPr marL="342900" lvl="0" indent="-342900">
              <a:buClr>
                <a:schemeClr val="dk1"/>
              </a:buClr>
              <a:buSzPts val="2800"/>
              <a:buFont typeface="Arial"/>
              <a:buChar char="•"/>
            </a:pPr>
            <a:r>
              <a:rPr lang="en-US" sz="2400" b="1" dirty="0">
                <a:solidFill>
                  <a:schemeClr val="dk1"/>
                </a:solidFill>
                <a:latin typeface="Times New Roman"/>
                <a:ea typeface="Times New Roman"/>
                <a:cs typeface="Times New Roman"/>
                <a:sym typeface="Times New Roman"/>
              </a:rPr>
              <a:t>Objectives</a:t>
            </a:r>
            <a:endParaRPr lang="en-US" sz="2400" b="1" dirty="0">
              <a:solidFill>
                <a:schemeClr val="dk1"/>
              </a:solidFill>
              <a:latin typeface="Times New Roman"/>
              <a:cs typeface="Times New Roman"/>
              <a:sym typeface="Times New Roman"/>
            </a:endParaRPr>
          </a:p>
          <a:p>
            <a:pPr marL="342900" indent="-342900">
              <a:buClr>
                <a:schemeClr val="dk1"/>
              </a:buClr>
              <a:buSzPts val="2800"/>
              <a:buFont typeface="Arial"/>
              <a:buChar char="•"/>
            </a:pPr>
            <a:r>
              <a:rPr lang="en-US" sz="2400" b="1" dirty="0">
                <a:solidFill>
                  <a:schemeClr val="dk1"/>
                </a:solidFill>
                <a:latin typeface="Times New Roman"/>
                <a:ea typeface="Times New Roman"/>
                <a:cs typeface="Times New Roman"/>
                <a:sym typeface="Times New Roman"/>
              </a:rPr>
              <a:t>Methodology of Objectives</a:t>
            </a:r>
            <a:endParaRPr lang="en-US" sz="2400" dirty="0"/>
          </a:p>
          <a:p>
            <a:pPr marL="342900" lvl="0" indent="-342900">
              <a:buClr>
                <a:schemeClr val="dk1"/>
              </a:buClr>
              <a:buSzPts val="2800"/>
              <a:buFont typeface="Arial"/>
              <a:buChar char="•"/>
            </a:pPr>
            <a:r>
              <a:rPr lang="en-US" sz="2400" b="1" dirty="0">
                <a:solidFill>
                  <a:schemeClr val="dk1"/>
                </a:solidFill>
                <a:latin typeface="Times New Roman"/>
                <a:cs typeface="Times New Roman"/>
                <a:sym typeface="Times New Roman"/>
              </a:rPr>
              <a:t>Results &amp; Discussion</a:t>
            </a:r>
            <a:endParaRPr lang="en-US" sz="2400" dirty="0"/>
          </a:p>
          <a:p>
            <a:pPr marL="342900" lvl="0" indent="-342900">
              <a:buClr>
                <a:schemeClr val="dk1"/>
              </a:buClr>
              <a:buSzPts val="2800"/>
              <a:buFont typeface="Arial"/>
              <a:buChar char="•"/>
            </a:pPr>
            <a:r>
              <a:rPr lang="en-US" sz="2400" b="1" dirty="0">
                <a:solidFill>
                  <a:schemeClr val="dk1"/>
                </a:solidFill>
                <a:latin typeface="Times New Roman"/>
                <a:ea typeface="Times New Roman"/>
                <a:cs typeface="Times New Roman"/>
                <a:sym typeface="Times New Roman"/>
              </a:rPr>
              <a:t>Conclusion</a:t>
            </a:r>
            <a:endParaRPr lang="en-US" sz="2400" dirty="0"/>
          </a:p>
        </p:txBody>
      </p:sp>
      <p:sp>
        <p:nvSpPr>
          <p:cNvPr id="7" name="TextBox 6">
            <a:extLst>
              <a:ext uri="{FF2B5EF4-FFF2-40B4-BE49-F238E27FC236}">
                <a16:creationId xmlns:a16="http://schemas.microsoft.com/office/drawing/2014/main" id="{1FBCDAA3-6C3C-613A-6986-27E686056542}"/>
              </a:ext>
            </a:extLst>
          </p:cNvPr>
          <p:cNvSpPr txBox="1"/>
          <p:nvPr/>
        </p:nvSpPr>
        <p:spPr>
          <a:xfrm>
            <a:off x="10051330" y="6404669"/>
            <a:ext cx="2410905" cy="369332"/>
          </a:xfrm>
          <a:prstGeom prst="rect">
            <a:avLst/>
          </a:prstGeom>
          <a:noFill/>
        </p:spPr>
        <p:txBody>
          <a:bodyPr wrap="square">
            <a:spAutoFit/>
          </a:bodyPr>
          <a:lstStyle/>
          <a:p>
            <a:pPr algn="ctr"/>
            <a:r>
              <a:rPr lang="en-US" b="1" dirty="0">
                <a:latin typeface="Times New Roman" panose="02020603050405020304" pitchFamily="18" charset="0"/>
                <a:cs typeface="Times New Roman" panose="02020603050405020304" pitchFamily="18" charset="0"/>
              </a:rPr>
              <a:t>Slide no: 01</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4223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F6D699-F826-6EE4-C6FC-9EC1ED9E3482}"/>
              </a:ext>
            </a:extLst>
          </p:cNvPr>
          <p:cNvSpPr txBox="1"/>
          <p:nvPr/>
        </p:nvSpPr>
        <p:spPr>
          <a:xfrm>
            <a:off x="10167594" y="6414097"/>
            <a:ext cx="2024406" cy="369332"/>
          </a:xfrm>
          <a:prstGeom prst="rect">
            <a:avLst/>
          </a:prstGeom>
          <a:noFill/>
        </p:spPr>
        <p:txBody>
          <a:bodyPr wrap="square">
            <a:spAutoFit/>
          </a:bodyPr>
          <a:lstStyle/>
          <a:p>
            <a:pPr algn="ctr"/>
            <a:r>
              <a:rPr lang="en-US" b="1" dirty="0">
                <a:latin typeface="Times New Roman" panose="02020603050405020304" pitchFamily="18" charset="0"/>
                <a:cs typeface="Times New Roman" panose="02020603050405020304" pitchFamily="18" charset="0"/>
              </a:rPr>
              <a:t>Slide no: 03</a:t>
            </a:r>
            <a:endParaRPr lang="en-IN"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CF8A0C7-18F1-BDEC-E4CE-B5FE1430F935}"/>
              </a:ext>
            </a:extLst>
          </p:cNvPr>
          <p:cNvSpPr txBox="1"/>
          <p:nvPr/>
        </p:nvSpPr>
        <p:spPr>
          <a:xfrm>
            <a:off x="3160240" y="327017"/>
            <a:ext cx="6098058" cy="783163"/>
          </a:xfrm>
          <a:prstGeom prst="rect">
            <a:avLst/>
          </a:prstGeom>
          <a:noFill/>
        </p:spPr>
        <p:txBody>
          <a:bodyPr wrap="square">
            <a:spAutoFit/>
          </a:bodyPr>
          <a:lstStyle/>
          <a:p>
            <a:pPr marR="0" lvl="0" algn="ctr" rtl="0">
              <a:lnSpc>
                <a:spcPct val="150000"/>
              </a:lnSpc>
              <a:spcBef>
                <a:spcPts val="1400"/>
              </a:spcBef>
              <a:spcAft>
                <a:spcPts val="0"/>
              </a:spcAft>
              <a:buClr>
                <a:srgbClr val="000000"/>
              </a:buClr>
              <a:buSzPts val="2600"/>
            </a:pPr>
            <a:r>
              <a:rPr lang="en-US" sz="3400" b="1" dirty="0">
                <a:solidFill>
                  <a:schemeClr val="dk1"/>
                </a:solidFill>
                <a:latin typeface="Times New Roman" panose="02020603050405020304" pitchFamily="18" charset="0"/>
                <a:cs typeface="Times New Roman" panose="02020603050405020304" pitchFamily="18" charset="0"/>
                <a:sym typeface="Arial"/>
              </a:rPr>
              <a:t>Introduction</a:t>
            </a:r>
          </a:p>
        </p:txBody>
      </p:sp>
      <p:sp>
        <p:nvSpPr>
          <p:cNvPr id="2" name="TextBox 1">
            <a:extLst>
              <a:ext uri="{FF2B5EF4-FFF2-40B4-BE49-F238E27FC236}">
                <a16:creationId xmlns:a16="http://schemas.microsoft.com/office/drawing/2014/main" id="{74A3CFCF-495C-832B-1F4E-865121FAF944}"/>
              </a:ext>
            </a:extLst>
          </p:cNvPr>
          <p:cNvSpPr txBox="1"/>
          <p:nvPr/>
        </p:nvSpPr>
        <p:spPr>
          <a:xfrm>
            <a:off x="545890" y="1757088"/>
            <a:ext cx="11012128" cy="3231654"/>
          </a:xfrm>
          <a:prstGeom prst="rect">
            <a:avLst/>
          </a:prstGeom>
          <a:noFill/>
        </p:spPr>
        <p:txBody>
          <a:bodyPr wrap="square" rtlCol="0">
            <a:spAutoFit/>
          </a:bodyPr>
          <a:lstStyle/>
          <a:p>
            <a:pPr algn="just"/>
            <a:r>
              <a:rPr lang="en-GB" sz="2000" dirty="0">
                <a:latin typeface="Times New Roman" panose="02020603050405020304" pitchFamily="18" charset="0"/>
                <a:cs typeface="Times New Roman" panose="02020603050405020304" pitchFamily="18" charset="0"/>
              </a:rPr>
              <a:t>Managing traffic in cities is becoming more difficult as the number of vehicles continues to increase. Traditional traffic signals use fixed timings and cannot adjust when traffic becomes heavy. This leads to long delays, traffic jams, more fuel usage, and higher pollution. Because of this, smarter and more adaptive traffic control methods are needed. With the growth of artificial intelligence (AI) and computer vision, traffic signals can now be improved using intelligent techniques. Many AI-based methods exist, but they often have limitations or are not easily scalable. In this work, we propose an AI-based Traffic Signal Processing (TSP) system that adjusts signal timings based on traffic density. The system uses deep learning to detect and count vehicles from simulated traffic videos. An adaptive algorithm then changes the green light duration according to the congestion level. The system is tested using SUMO (Simulation of Urban Mobility) to study its performance under different traffic conditions.</a:t>
            </a:r>
          </a:p>
        </p:txBody>
      </p:sp>
    </p:spTree>
    <p:extLst>
      <p:ext uri="{BB962C8B-B14F-4D97-AF65-F5344CB8AC3E}">
        <p14:creationId xmlns:p14="http://schemas.microsoft.com/office/powerpoint/2010/main" val="18974018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4DF28DA-FD22-31D7-B485-87C529B4C699}"/>
              </a:ext>
            </a:extLst>
          </p:cNvPr>
          <p:cNvSpPr txBox="1"/>
          <p:nvPr/>
        </p:nvSpPr>
        <p:spPr>
          <a:xfrm>
            <a:off x="4267200" y="786580"/>
            <a:ext cx="2926186" cy="492443"/>
          </a:xfrm>
          <a:prstGeom prst="rect">
            <a:avLst/>
          </a:prstGeom>
          <a:noFill/>
        </p:spPr>
        <p:txBody>
          <a:bodyPr wrap="none" rtlCol="0">
            <a:spAutoFit/>
          </a:bodyPr>
          <a:lstStyle/>
          <a:p>
            <a:pPr algn="ctr"/>
            <a:r>
              <a:rPr lang="en-IN" sz="2600" b="1" dirty="0">
                <a:latin typeface="Times New Roman" panose="02020603050405020304" pitchFamily="18" charset="0"/>
                <a:cs typeface="Times New Roman" panose="02020603050405020304" pitchFamily="18" charset="0"/>
              </a:rPr>
              <a:t>Problem Statement</a:t>
            </a:r>
          </a:p>
        </p:txBody>
      </p:sp>
      <p:sp>
        <p:nvSpPr>
          <p:cNvPr id="3" name="TextBox 2">
            <a:extLst>
              <a:ext uri="{FF2B5EF4-FFF2-40B4-BE49-F238E27FC236}">
                <a16:creationId xmlns:a16="http://schemas.microsoft.com/office/drawing/2014/main" id="{E52F79DA-4154-7A5B-F84B-D38ED794DC05}"/>
              </a:ext>
            </a:extLst>
          </p:cNvPr>
          <p:cNvSpPr txBox="1"/>
          <p:nvPr/>
        </p:nvSpPr>
        <p:spPr>
          <a:xfrm>
            <a:off x="633046" y="1563991"/>
            <a:ext cx="11148646" cy="2246769"/>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Traditional traffic signal systems are ill-equipped to handle the dynamic and unpredictable nature of modern urban traffic. Most systems still rely on fixed signal timings or manually controlled operations, which leads to unnecessary delays, inefficient vehicle throughput, increased fuel consumption, and environmental degradation. Although various AI-based approaches have been proposed in recent literature, gaps remain in real world deployment, cost-effective scalability, integration of multiple AI techniques under variable traffic conditions.</a:t>
            </a:r>
            <a:endParaRPr lang="en-IN" sz="2000" dirty="0">
              <a:latin typeface="Times New Roman" panose="02020603050405020304" pitchFamily="18" charset="0"/>
              <a:cs typeface="Times New Roman" panose="02020603050405020304" pitchFamily="18" charset="0"/>
            </a:endParaRPr>
          </a:p>
          <a:p>
            <a:pPr algn="just"/>
            <a:endParaRPr lang="en-IN" sz="2000" dirty="0"/>
          </a:p>
        </p:txBody>
      </p:sp>
    </p:spTree>
    <p:extLst>
      <p:ext uri="{BB962C8B-B14F-4D97-AF65-F5344CB8AC3E}">
        <p14:creationId xmlns:p14="http://schemas.microsoft.com/office/powerpoint/2010/main" val="14271429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1B894-7C28-35DB-2A3D-3C116C64C1A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7EED8CF-9513-240A-7F09-E12FF157AE34}"/>
              </a:ext>
            </a:extLst>
          </p:cNvPr>
          <p:cNvSpPr txBox="1"/>
          <p:nvPr/>
        </p:nvSpPr>
        <p:spPr>
          <a:xfrm>
            <a:off x="10167594" y="6414097"/>
            <a:ext cx="2024406" cy="369332"/>
          </a:xfrm>
          <a:prstGeom prst="rect">
            <a:avLst/>
          </a:prstGeom>
          <a:noFill/>
        </p:spPr>
        <p:txBody>
          <a:bodyPr wrap="square">
            <a:spAutoFit/>
          </a:bodyPr>
          <a:lstStyle/>
          <a:p>
            <a:pPr algn="ctr"/>
            <a:r>
              <a:rPr lang="en-US" b="1" dirty="0">
                <a:latin typeface="Times New Roman" panose="02020603050405020304" pitchFamily="18" charset="0"/>
                <a:cs typeface="Times New Roman" panose="02020603050405020304" pitchFamily="18" charset="0"/>
              </a:rPr>
              <a:t>Slide no: 03</a:t>
            </a:r>
            <a:endParaRPr lang="en-IN"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2AA9250-0F2E-7EB1-F45B-32C04CA1529A}"/>
              </a:ext>
            </a:extLst>
          </p:cNvPr>
          <p:cNvSpPr txBox="1"/>
          <p:nvPr/>
        </p:nvSpPr>
        <p:spPr>
          <a:xfrm>
            <a:off x="2896893" y="182880"/>
            <a:ext cx="6098058" cy="783163"/>
          </a:xfrm>
          <a:prstGeom prst="rect">
            <a:avLst/>
          </a:prstGeom>
          <a:noFill/>
        </p:spPr>
        <p:txBody>
          <a:bodyPr wrap="square">
            <a:spAutoFit/>
          </a:bodyPr>
          <a:lstStyle/>
          <a:p>
            <a:pPr marR="0" lvl="0" algn="ctr" rtl="0">
              <a:lnSpc>
                <a:spcPct val="150000"/>
              </a:lnSpc>
              <a:spcBef>
                <a:spcPts val="1400"/>
              </a:spcBef>
              <a:spcAft>
                <a:spcPts val="0"/>
              </a:spcAft>
              <a:buClr>
                <a:srgbClr val="000000"/>
              </a:buClr>
              <a:buSzPts val="2600"/>
            </a:pPr>
            <a:r>
              <a:rPr lang="en-US" sz="3400" b="1" dirty="0">
                <a:solidFill>
                  <a:schemeClr val="dk1"/>
                </a:solidFill>
                <a:latin typeface="Times New Roman" panose="02020603050405020304" pitchFamily="18" charset="0"/>
                <a:cs typeface="Times New Roman" panose="02020603050405020304" pitchFamily="18" charset="0"/>
                <a:sym typeface="Arial"/>
              </a:rPr>
              <a:t>Objectives</a:t>
            </a:r>
          </a:p>
        </p:txBody>
      </p:sp>
      <p:sp>
        <p:nvSpPr>
          <p:cNvPr id="5" name="TextBox 4">
            <a:extLst>
              <a:ext uri="{FF2B5EF4-FFF2-40B4-BE49-F238E27FC236}">
                <a16:creationId xmlns:a16="http://schemas.microsoft.com/office/drawing/2014/main" id="{BF2A744D-3AF5-FFEA-22B3-44AE0B19380F}"/>
              </a:ext>
            </a:extLst>
          </p:cNvPr>
          <p:cNvSpPr txBox="1"/>
          <p:nvPr/>
        </p:nvSpPr>
        <p:spPr>
          <a:xfrm>
            <a:off x="1103376" y="1052766"/>
            <a:ext cx="9985248" cy="6555641"/>
          </a:xfrm>
          <a:prstGeom prst="rect">
            <a:avLst/>
          </a:prstGeom>
          <a:noFill/>
        </p:spPr>
        <p:txBody>
          <a:bodyPr wrap="square" rtlCol="0">
            <a:spAutoFit/>
          </a:bodyPr>
          <a:lstStyle/>
          <a:p>
            <a:r>
              <a:rPr lang="en-GB" sz="2000" dirty="0">
                <a:latin typeface="Times New Roman" panose="02020603050405020304" pitchFamily="18" charset="0"/>
                <a:cs typeface="Times New Roman" panose="02020603050405020304" pitchFamily="18" charset="0"/>
              </a:rPr>
              <a:t>Objective 1:</a:t>
            </a:r>
          </a:p>
          <a:p>
            <a:r>
              <a:rPr lang="en-US" sz="2000" b="1" dirty="0">
                <a:latin typeface="Times New Roman" panose="02020603050405020304" pitchFamily="18" charset="0"/>
                <a:cs typeface="Times New Roman" panose="02020603050405020304" pitchFamily="18" charset="0"/>
              </a:rPr>
              <a:t>Dataset Collection &amp; Annotation</a:t>
            </a:r>
            <a:r>
              <a:rPr lang="en-US" sz="2000" dirty="0">
                <a:latin typeface="Times New Roman" panose="02020603050405020304" pitchFamily="18" charset="0"/>
                <a:cs typeface="Times New Roman" panose="02020603050405020304" pitchFamily="18" charset="0"/>
              </a:rPr>
              <a:t>: Collect, annotate and structure traffic videos for vehicle detection and tracking. </a:t>
            </a:r>
          </a:p>
          <a:p>
            <a:endParaRPr lang="en-US" sz="2000" dirty="0">
              <a:latin typeface="Times New Roman" panose="02020603050405020304" pitchFamily="18" charset="0"/>
              <a:cs typeface="Times New Roman" panose="02020603050405020304" pitchFamily="18" charset="0"/>
            </a:endParaRPr>
          </a:p>
          <a:p>
            <a:pPr algn="just"/>
            <a:r>
              <a:rPr lang="en-GB" sz="2000" dirty="0">
                <a:latin typeface="Times New Roman" panose="02020603050405020304" pitchFamily="18" charset="0"/>
                <a:cs typeface="Times New Roman" panose="02020603050405020304" pitchFamily="18" charset="0"/>
              </a:rPr>
              <a:t>Objective 2:</a:t>
            </a:r>
          </a:p>
          <a:p>
            <a:r>
              <a:rPr lang="en-US" sz="2000" b="1" dirty="0">
                <a:latin typeface="Times New Roman" panose="02020603050405020304" pitchFamily="18" charset="0"/>
                <a:cs typeface="Times New Roman" panose="02020603050405020304" pitchFamily="18" charset="0"/>
              </a:rPr>
              <a:t>Model Training for Detection</a:t>
            </a:r>
            <a:r>
              <a:rPr lang="en-US" sz="2000" dirty="0">
                <a:latin typeface="Times New Roman" panose="02020603050405020304" pitchFamily="18" charset="0"/>
                <a:cs typeface="Times New Roman" panose="02020603050405020304" pitchFamily="18" charset="0"/>
              </a:rPr>
              <a:t>: Train and validate deep learning models to accurately detect and track vehicles in traffic scenes. </a:t>
            </a:r>
          </a:p>
          <a:p>
            <a:endParaRPr lang="en-US" sz="2000" dirty="0">
              <a:latin typeface="Times New Roman" panose="02020603050405020304" pitchFamily="18" charset="0"/>
              <a:cs typeface="Times New Roman" panose="02020603050405020304" pitchFamily="18" charset="0"/>
            </a:endParaRPr>
          </a:p>
          <a:p>
            <a:pPr algn="just"/>
            <a:r>
              <a:rPr lang="en-GB" sz="2000" dirty="0">
                <a:latin typeface="Times New Roman" panose="02020603050405020304" pitchFamily="18" charset="0"/>
                <a:cs typeface="Times New Roman" panose="02020603050405020304" pitchFamily="18" charset="0"/>
              </a:rPr>
              <a:t>Objective 3: </a:t>
            </a:r>
          </a:p>
          <a:p>
            <a:r>
              <a:rPr lang="en-US" sz="2000" b="1" dirty="0">
                <a:latin typeface="Times New Roman" panose="02020603050405020304" pitchFamily="18" charset="0"/>
                <a:cs typeface="Times New Roman" panose="02020603050405020304" pitchFamily="18" charset="0"/>
              </a:rPr>
              <a:t>Adaptive Signal Switching</a:t>
            </a:r>
            <a:r>
              <a:rPr lang="en-US" sz="2000" dirty="0">
                <a:latin typeface="Times New Roman" panose="02020603050405020304" pitchFamily="18" charset="0"/>
                <a:cs typeface="Times New Roman" panose="02020603050405020304" pitchFamily="18" charset="0"/>
              </a:rPr>
              <a:t>: Implement an intelligent traffic signal control algorithm that adapts to vehicle density. </a:t>
            </a:r>
          </a:p>
          <a:p>
            <a:endParaRPr lang="en-US" sz="2000" dirty="0">
              <a:latin typeface="Times New Roman" panose="02020603050405020304" pitchFamily="18" charset="0"/>
              <a:cs typeface="Times New Roman" panose="02020603050405020304" pitchFamily="18" charset="0"/>
            </a:endParaRPr>
          </a:p>
          <a:p>
            <a:pPr algn="just"/>
            <a:r>
              <a:rPr lang="en-GB" sz="2000" dirty="0">
                <a:latin typeface="Times New Roman" panose="02020603050405020304" pitchFamily="18" charset="0"/>
                <a:cs typeface="Times New Roman" panose="02020603050405020304" pitchFamily="18" charset="0"/>
              </a:rPr>
              <a:t>Objective 4:</a:t>
            </a:r>
          </a:p>
          <a:p>
            <a:r>
              <a:rPr lang="en-US" sz="2000" b="1" dirty="0">
                <a:latin typeface="Times New Roman" panose="02020603050405020304" pitchFamily="18" charset="0"/>
                <a:cs typeface="Times New Roman" panose="02020603050405020304" pitchFamily="18" charset="0"/>
              </a:rPr>
              <a:t>System Simulation &amp; Evaluation</a:t>
            </a:r>
            <a:r>
              <a:rPr lang="en-US" sz="2000" dirty="0">
                <a:latin typeface="Times New Roman" panose="02020603050405020304" pitchFamily="18" charset="0"/>
                <a:cs typeface="Times New Roman" panose="02020603050405020304" pitchFamily="18" charset="0"/>
              </a:rPr>
              <a:t>: Simulate traffic scenarios and evaluate system performance using SUMO. </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87883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67B09F-2B63-F2FA-620A-2AAA5C3B11BC}"/>
              </a:ext>
            </a:extLst>
          </p:cNvPr>
          <p:cNvSpPr txBox="1"/>
          <p:nvPr/>
        </p:nvSpPr>
        <p:spPr>
          <a:xfrm>
            <a:off x="4748981" y="521110"/>
            <a:ext cx="2576052" cy="430887"/>
          </a:xfrm>
          <a:prstGeom prst="rect">
            <a:avLst/>
          </a:prstGeom>
          <a:noFill/>
        </p:spPr>
        <p:txBody>
          <a:bodyPr wrap="square" rtlCol="0">
            <a:spAutoFit/>
          </a:bodyPr>
          <a:lstStyle/>
          <a:p>
            <a:r>
              <a:rPr lang="en-IN" sz="2200" b="1" dirty="0">
                <a:latin typeface="Times New Roman" panose="02020603050405020304" pitchFamily="18" charset="0"/>
                <a:cs typeface="Times New Roman" panose="02020603050405020304" pitchFamily="18" charset="0"/>
              </a:rPr>
              <a:t>METHODOLOGY </a:t>
            </a:r>
          </a:p>
        </p:txBody>
      </p:sp>
      <p:sp>
        <p:nvSpPr>
          <p:cNvPr id="3" name="TextBox 2">
            <a:extLst>
              <a:ext uri="{FF2B5EF4-FFF2-40B4-BE49-F238E27FC236}">
                <a16:creationId xmlns:a16="http://schemas.microsoft.com/office/drawing/2014/main" id="{A8F4D133-1B43-374E-4CC5-5D97CDA3F515}"/>
              </a:ext>
            </a:extLst>
          </p:cNvPr>
          <p:cNvSpPr txBox="1"/>
          <p:nvPr/>
        </p:nvSpPr>
        <p:spPr>
          <a:xfrm>
            <a:off x="914400" y="1118418"/>
            <a:ext cx="1663212" cy="430887"/>
          </a:xfrm>
          <a:prstGeom prst="rect">
            <a:avLst/>
          </a:prstGeom>
          <a:noFill/>
        </p:spPr>
        <p:txBody>
          <a:bodyPr wrap="none" rtlCol="0">
            <a:spAutoFit/>
          </a:bodyPr>
          <a:lstStyle/>
          <a:p>
            <a:r>
              <a:rPr lang="en-IN" sz="2200" b="1" dirty="0"/>
              <a:t>Objective:01</a:t>
            </a:r>
          </a:p>
        </p:txBody>
      </p:sp>
      <p:pic>
        <p:nvPicPr>
          <p:cNvPr id="5" name="Picture 4">
            <a:extLst>
              <a:ext uri="{FF2B5EF4-FFF2-40B4-BE49-F238E27FC236}">
                <a16:creationId xmlns:a16="http://schemas.microsoft.com/office/drawing/2014/main" id="{ED234EDA-B976-3856-F241-DC7E67A26333}"/>
              </a:ext>
            </a:extLst>
          </p:cNvPr>
          <p:cNvPicPr>
            <a:picLocks noChangeAspect="1"/>
          </p:cNvPicPr>
          <p:nvPr/>
        </p:nvPicPr>
        <p:blipFill>
          <a:blip r:embed="rId2">
            <a:extLst>
              <a:ext uri="{28A0092B-C50C-407E-A947-70E740481C1C}">
                <a14:useLocalDpi xmlns:a14="http://schemas.microsoft.com/office/drawing/2010/main" val="0"/>
              </a:ext>
            </a:extLst>
          </a:blip>
          <a:srcRect l="-287" t="16322" r="287" b="16600"/>
          <a:stretch>
            <a:fillRect/>
          </a:stretch>
        </p:blipFill>
        <p:spPr>
          <a:xfrm>
            <a:off x="8150942" y="1236405"/>
            <a:ext cx="3812216" cy="4621163"/>
          </a:xfrm>
          <a:prstGeom prst="rect">
            <a:avLst/>
          </a:prstGeom>
        </p:spPr>
      </p:pic>
      <p:sp>
        <p:nvSpPr>
          <p:cNvPr id="6" name="TextBox 5">
            <a:extLst>
              <a:ext uri="{FF2B5EF4-FFF2-40B4-BE49-F238E27FC236}">
                <a16:creationId xmlns:a16="http://schemas.microsoft.com/office/drawing/2014/main" id="{69159EA8-44AE-0B6E-2C5E-ABF41F2808B7}"/>
              </a:ext>
            </a:extLst>
          </p:cNvPr>
          <p:cNvSpPr txBox="1"/>
          <p:nvPr/>
        </p:nvSpPr>
        <p:spPr>
          <a:xfrm>
            <a:off x="914400" y="1333861"/>
            <a:ext cx="7885470" cy="3970318"/>
          </a:xfrm>
          <a:prstGeom prst="rect">
            <a:avLst/>
          </a:prstGeom>
          <a:noFill/>
        </p:spPr>
        <p:txBody>
          <a:bodyPr wrap="square" rtlCol="0">
            <a:spAutoFit/>
          </a:bodyPr>
          <a:lstStyle/>
          <a:p>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Problem Understanding</a:t>
            </a:r>
            <a:r>
              <a:rPr lang="en-US" dirty="0">
                <a:latin typeface="Times New Roman" panose="02020603050405020304" pitchFamily="18" charset="0"/>
                <a:cs typeface="Times New Roman" panose="02020603050405020304" pitchFamily="18" charset="0"/>
              </a:rPr>
              <a:t>: Identify the project goals, requirements, and expected outcomes.</a:t>
            </a:r>
          </a:p>
          <a:p>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Data Collection</a:t>
            </a:r>
            <a:r>
              <a:rPr lang="en-US" dirty="0">
                <a:latin typeface="Times New Roman" panose="02020603050405020304" pitchFamily="18" charset="0"/>
                <a:cs typeface="Times New Roman" panose="02020603050405020304" pitchFamily="18" charset="0"/>
              </a:rPr>
              <a:t>: Gather relevant raw data from appropriate sources.</a:t>
            </a:r>
          </a:p>
          <a:p>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Data Cleaning</a:t>
            </a:r>
            <a:r>
              <a:rPr lang="en-US" dirty="0">
                <a:latin typeface="Times New Roman" panose="02020603050405020304" pitchFamily="18" charset="0"/>
                <a:cs typeface="Times New Roman" panose="02020603050405020304" pitchFamily="18" charset="0"/>
              </a:rPr>
              <a:t>: Remove errors, noise, and inconsistencies from the collected data.</a:t>
            </a:r>
          </a:p>
          <a:p>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Annotation</a:t>
            </a:r>
            <a:r>
              <a:rPr lang="en-US" dirty="0">
                <a:latin typeface="Times New Roman" panose="02020603050405020304" pitchFamily="18" charset="0"/>
                <a:cs typeface="Times New Roman" panose="02020603050405020304" pitchFamily="18" charset="0"/>
              </a:rPr>
              <a:t>: Label the cleaned data with accurate tags required for the model.</a:t>
            </a:r>
          </a:p>
          <a:p>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Data Structuring</a:t>
            </a:r>
            <a:r>
              <a:rPr lang="en-US" dirty="0">
                <a:latin typeface="Times New Roman" panose="02020603050405020304" pitchFamily="18" charset="0"/>
                <a:cs typeface="Times New Roman" panose="02020603050405020304" pitchFamily="18" charset="0"/>
              </a:rPr>
              <a:t>: Organize the annotated data into a proper format for training.</a:t>
            </a:r>
          </a:p>
          <a:p>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Dataset Ready for Model Training</a:t>
            </a:r>
            <a:r>
              <a:rPr lang="en-US" dirty="0">
                <a:latin typeface="Times New Roman" panose="02020603050405020304" pitchFamily="18" charset="0"/>
                <a:cs typeface="Times New Roman" panose="02020603050405020304" pitchFamily="18" charset="0"/>
              </a:rPr>
              <a:t>: Finalize and validate the dataset for seamless model training.</a:t>
            </a:r>
          </a:p>
        </p:txBody>
      </p:sp>
    </p:spTree>
    <p:extLst>
      <p:ext uri="{BB962C8B-B14F-4D97-AF65-F5344CB8AC3E}">
        <p14:creationId xmlns:p14="http://schemas.microsoft.com/office/powerpoint/2010/main" val="3379358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19AD5-595E-970E-8A3C-C28944C6F41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199C5F3-E050-6B20-A0E9-9D0D084631AD}"/>
              </a:ext>
            </a:extLst>
          </p:cNvPr>
          <p:cNvSpPr txBox="1"/>
          <p:nvPr/>
        </p:nvSpPr>
        <p:spPr>
          <a:xfrm>
            <a:off x="4748981" y="521110"/>
            <a:ext cx="2576052" cy="430887"/>
          </a:xfrm>
          <a:prstGeom prst="rect">
            <a:avLst/>
          </a:prstGeom>
          <a:noFill/>
        </p:spPr>
        <p:txBody>
          <a:bodyPr wrap="square" rtlCol="0">
            <a:spAutoFit/>
          </a:bodyPr>
          <a:lstStyle/>
          <a:p>
            <a:r>
              <a:rPr lang="en-IN" sz="2200" b="1" dirty="0">
                <a:latin typeface="Times New Roman" panose="02020603050405020304" pitchFamily="18" charset="0"/>
                <a:cs typeface="Times New Roman" panose="02020603050405020304" pitchFamily="18" charset="0"/>
              </a:rPr>
              <a:t>METHODOLOGY </a:t>
            </a:r>
          </a:p>
        </p:txBody>
      </p:sp>
      <p:sp>
        <p:nvSpPr>
          <p:cNvPr id="3" name="TextBox 2">
            <a:extLst>
              <a:ext uri="{FF2B5EF4-FFF2-40B4-BE49-F238E27FC236}">
                <a16:creationId xmlns:a16="http://schemas.microsoft.com/office/drawing/2014/main" id="{C791FD68-99CE-41A9-0E06-488948457D6F}"/>
              </a:ext>
            </a:extLst>
          </p:cNvPr>
          <p:cNvSpPr txBox="1"/>
          <p:nvPr/>
        </p:nvSpPr>
        <p:spPr>
          <a:xfrm>
            <a:off x="983226" y="1455174"/>
            <a:ext cx="1663212" cy="430887"/>
          </a:xfrm>
          <a:prstGeom prst="rect">
            <a:avLst/>
          </a:prstGeom>
          <a:noFill/>
        </p:spPr>
        <p:txBody>
          <a:bodyPr wrap="none" rtlCol="0">
            <a:spAutoFit/>
          </a:bodyPr>
          <a:lstStyle/>
          <a:p>
            <a:r>
              <a:rPr lang="en-IN" sz="2200" b="1" dirty="0"/>
              <a:t>Objective:02</a:t>
            </a:r>
          </a:p>
        </p:txBody>
      </p:sp>
      <p:pic>
        <p:nvPicPr>
          <p:cNvPr id="6" name="Picture 5">
            <a:extLst>
              <a:ext uri="{FF2B5EF4-FFF2-40B4-BE49-F238E27FC236}">
                <a16:creationId xmlns:a16="http://schemas.microsoft.com/office/drawing/2014/main" id="{983E0BBB-2AD8-275F-0F40-EF1F14F704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51877" y="1150374"/>
            <a:ext cx="3305328" cy="4725168"/>
          </a:xfrm>
          <a:prstGeom prst="rect">
            <a:avLst/>
          </a:prstGeom>
        </p:spPr>
      </p:pic>
      <p:sp>
        <p:nvSpPr>
          <p:cNvPr id="12" name="TextBox 11">
            <a:extLst>
              <a:ext uri="{FF2B5EF4-FFF2-40B4-BE49-F238E27FC236}">
                <a16:creationId xmlns:a16="http://schemas.microsoft.com/office/drawing/2014/main" id="{A17E1EF4-C0DB-4A08-FA73-493D85C4C0F6}"/>
              </a:ext>
            </a:extLst>
          </p:cNvPr>
          <p:cNvSpPr txBox="1"/>
          <p:nvPr/>
        </p:nvSpPr>
        <p:spPr>
          <a:xfrm>
            <a:off x="983226" y="2026365"/>
            <a:ext cx="6115664" cy="1938992"/>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Load and preprocess the dataset containing annotated vehicle images.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Create the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data.yaml</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file specifying paths and the single class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vehicle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Train the YOLOv8 model using the prepared dataset.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Evaluate the model performance.</a:t>
            </a:r>
          </a:p>
        </p:txBody>
      </p:sp>
    </p:spTree>
    <p:extLst>
      <p:ext uri="{BB962C8B-B14F-4D97-AF65-F5344CB8AC3E}">
        <p14:creationId xmlns:p14="http://schemas.microsoft.com/office/powerpoint/2010/main" val="42531255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A33AF-86CF-ACB1-E87D-B61DA4EE000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249B1FD-06AA-05CF-2A94-E41AB73A939C}"/>
              </a:ext>
            </a:extLst>
          </p:cNvPr>
          <p:cNvSpPr txBox="1"/>
          <p:nvPr/>
        </p:nvSpPr>
        <p:spPr>
          <a:xfrm>
            <a:off x="4748981" y="521110"/>
            <a:ext cx="2576052" cy="430887"/>
          </a:xfrm>
          <a:prstGeom prst="rect">
            <a:avLst/>
          </a:prstGeom>
          <a:noFill/>
        </p:spPr>
        <p:txBody>
          <a:bodyPr wrap="square" rtlCol="0">
            <a:spAutoFit/>
          </a:bodyPr>
          <a:lstStyle/>
          <a:p>
            <a:r>
              <a:rPr lang="en-IN" sz="2200" b="1" dirty="0">
                <a:latin typeface="Times New Roman" panose="02020603050405020304" pitchFamily="18" charset="0"/>
                <a:cs typeface="Times New Roman" panose="02020603050405020304" pitchFamily="18" charset="0"/>
              </a:rPr>
              <a:t>METHODOLOGY </a:t>
            </a:r>
          </a:p>
        </p:txBody>
      </p:sp>
      <p:sp>
        <p:nvSpPr>
          <p:cNvPr id="3" name="TextBox 2">
            <a:extLst>
              <a:ext uri="{FF2B5EF4-FFF2-40B4-BE49-F238E27FC236}">
                <a16:creationId xmlns:a16="http://schemas.microsoft.com/office/drawing/2014/main" id="{394FBB9E-7666-8A6C-83F0-081D61ADEBE8}"/>
              </a:ext>
            </a:extLst>
          </p:cNvPr>
          <p:cNvSpPr txBox="1"/>
          <p:nvPr/>
        </p:nvSpPr>
        <p:spPr>
          <a:xfrm>
            <a:off x="943897" y="1038169"/>
            <a:ext cx="1663212" cy="430887"/>
          </a:xfrm>
          <a:prstGeom prst="rect">
            <a:avLst/>
          </a:prstGeom>
          <a:noFill/>
        </p:spPr>
        <p:txBody>
          <a:bodyPr wrap="none" rtlCol="0">
            <a:spAutoFit/>
          </a:bodyPr>
          <a:lstStyle/>
          <a:p>
            <a:r>
              <a:rPr lang="en-IN" sz="2200" b="1" dirty="0"/>
              <a:t>Objective:03</a:t>
            </a:r>
          </a:p>
        </p:txBody>
      </p:sp>
      <p:pic>
        <p:nvPicPr>
          <p:cNvPr id="6" name="Picture 5">
            <a:extLst>
              <a:ext uri="{FF2B5EF4-FFF2-40B4-BE49-F238E27FC236}">
                <a16:creationId xmlns:a16="http://schemas.microsoft.com/office/drawing/2014/main" id="{8377975F-6E2F-1E5A-4951-BE5EC3171E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6916" y="1310148"/>
            <a:ext cx="3185651" cy="4778477"/>
          </a:xfrm>
          <a:prstGeom prst="rect">
            <a:avLst/>
          </a:prstGeom>
        </p:spPr>
      </p:pic>
      <p:sp>
        <p:nvSpPr>
          <p:cNvPr id="7" name="TextBox 6">
            <a:extLst>
              <a:ext uri="{FF2B5EF4-FFF2-40B4-BE49-F238E27FC236}">
                <a16:creationId xmlns:a16="http://schemas.microsoft.com/office/drawing/2014/main" id="{485DAE01-A4ED-7624-C259-2EAB58BB5129}"/>
              </a:ext>
            </a:extLst>
          </p:cNvPr>
          <p:cNvSpPr txBox="1"/>
          <p:nvPr/>
        </p:nvSpPr>
        <p:spPr>
          <a:xfrm>
            <a:off x="943897" y="1575727"/>
            <a:ext cx="6784258" cy="4247317"/>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Read Input Data </a:t>
            </a:r>
            <a:r>
              <a:rPr lang="en-US" dirty="0">
                <a:latin typeface="Times New Roman" panose="02020603050405020304" pitchFamily="18" charset="0"/>
                <a:cs typeface="Times New Roman" panose="02020603050405020304" pitchFamily="18" charset="0"/>
              </a:rPr>
              <a:t>– Vehicle counts for each lane are obtained from sensors or a simulated dataset.</a:t>
            </a:r>
          </a:p>
          <a:p>
            <a:pPr algn="just"/>
            <a:r>
              <a:rPr lang="en-US" b="1" dirty="0">
                <a:latin typeface="Times New Roman" panose="02020603050405020304" pitchFamily="18" charset="0"/>
                <a:cs typeface="Times New Roman" panose="02020603050405020304" pitchFamily="18" charset="0"/>
              </a:rPr>
              <a:t>Compute Total Weight </a:t>
            </a:r>
            <a:r>
              <a:rPr lang="en-US" dirty="0">
                <a:latin typeface="Times New Roman" panose="02020603050405020304" pitchFamily="18" charset="0"/>
                <a:cs typeface="Times New Roman" panose="02020603050405020304" pitchFamily="18" charset="0"/>
              </a:rPr>
              <a:t>– Sum all the vehicle counts.</a:t>
            </a:r>
          </a:p>
          <a:p>
            <a:pPr algn="just"/>
            <a:r>
              <a:rPr lang="en-US" b="1" dirty="0">
                <a:latin typeface="Times New Roman" panose="02020603050405020304" pitchFamily="18" charset="0"/>
                <a:cs typeface="Times New Roman" panose="02020603050405020304" pitchFamily="18" charset="0"/>
              </a:rPr>
              <a:t>Allocate Proportional Time </a:t>
            </a:r>
            <a:r>
              <a:rPr lang="en-US" dirty="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Each lane gets green time proportional to its traffic weight.</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Apply Minimum Time to each lane.</a:t>
            </a:r>
          </a:p>
          <a:p>
            <a:pPr algn="just"/>
            <a:r>
              <a:rPr lang="en-US" b="1" dirty="0">
                <a:latin typeface="Times New Roman" panose="02020603050405020304" pitchFamily="18" charset="0"/>
                <a:cs typeface="Times New Roman" panose="02020603050405020304" pitchFamily="18" charset="0"/>
              </a:rPr>
              <a:t>Rebalance Cycle </a:t>
            </a:r>
            <a:r>
              <a:rPr lang="en-US" dirty="0">
                <a:latin typeface="Times New Roman" panose="02020603050405020304" pitchFamily="18" charset="0"/>
                <a:cs typeface="Times New Roman" panose="02020603050405020304" pitchFamily="18" charset="0"/>
              </a:rPr>
              <a:t>– Adjust the total so that all green times fit within the cycle.</a:t>
            </a:r>
          </a:p>
          <a:p>
            <a:pPr algn="just"/>
            <a:r>
              <a:rPr lang="en-US" b="1" dirty="0">
                <a:latin typeface="Times New Roman" panose="02020603050405020304" pitchFamily="18" charset="0"/>
                <a:cs typeface="Times New Roman" panose="02020603050405020304" pitchFamily="18" charset="0"/>
              </a:rPr>
              <a:t>Determine Priority </a:t>
            </a:r>
            <a:r>
              <a:rPr lang="en-US" dirty="0">
                <a:latin typeface="Times New Roman" panose="02020603050405020304" pitchFamily="18" charset="0"/>
                <a:cs typeface="Times New Roman" panose="02020603050405020304" pitchFamily="18" charset="0"/>
              </a:rPr>
              <a:t>– Lanes are prioritized based on vehicle count (highest first).</a:t>
            </a:r>
          </a:p>
          <a:p>
            <a:pPr algn="just"/>
            <a:r>
              <a:rPr lang="en-US" b="1" dirty="0">
                <a:latin typeface="Times New Roman" panose="02020603050405020304" pitchFamily="18" charset="0"/>
                <a:cs typeface="Times New Roman" panose="02020603050405020304" pitchFamily="18" charset="0"/>
              </a:rPr>
              <a:t>Output</a:t>
            </a:r>
            <a:r>
              <a:rPr lang="en-US" dirty="0">
                <a:latin typeface="Times New Roman" panose="02020603050405020304" pitchFamily="18" charset="0"/>
                <a:cs typeface="Times New Roman" panose="02020603050405020304" pitchFamily="18" charset="0"/>
              </a:rPr>
              <a:t> – Green times and priority order are returned to the signal controller.</a:t>
            </a:r>
            <a:endParaRPr lang="en-IN"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1A54AFD5-7113-BBB9-B158-D372184D13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3655" y="3429000"/>
            <a:ext cx="2394567" cy="769682"/>
          </a:xfrm>
          <a:prstGeom prst="rect">
            <a:avLst/>
          </a:prstGeom>
        </p:spPr>
      </p:pic>
    </p:spTree>
    <p:extLst>
      <p:ext uri="{BB962C8B-B14F-4D97-AF65-F5344CB8AC3E}">
        <p14:creationId xmlns:p14="http://schemas.microsoft.com/office/powerpoint/2010/main" val="11311149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9B870-338C-6FC2-5DE4-91534306018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906CD74-53D5-9EAD-27C6-DFD8406DE788}"/>
              </a:ext>
            </a:extLst>
          </p:cNvPr>
          <p:cNvSpPr txBox="1"/>
          <p:nvPr/>
        </p:nvSpPr>
        <p:spPr>
          <a:xfrm>
            <a:off x="4748981" y="521110"/>
            <a:ext cx="2576052" cy="430887"/>
          </a:xfrm>
          <a:prstGeom prst="rect">
            <a:avLst/>
          </a:prstGeom>
          <a:noFill/>
        </p:spPr>
        <p:txBody>
          <a:bodyPr wrap="square" rtlCol="0">
            <a:spAutoFit/>
          </a:bodyPr>
          <a:lstStyle/>
          <a:p>
            <a:r>
              <a:rPr lang="en-IN" sz="2200" b="1" dirty="0">
                <a:latin typeface="Times New Roman" panose="02020603050405020304" pitchFamily="18" charset="0"/>
                <a:cs typeface="Times New Roman" panose="02020603050405020304" pitchFamily="18" charset="0"/>
              </a:rPr>
              <a:t>METHODOLOGY </a:t>
            </a:r>
          </a:p>
        </p:txBody>
      </p:sp>
      <p:sp>
        <p:nvSpPr>
          <p:cNvPr id="3" name="TextBox 2">
            <a:extLst>
              <a:ext uri="{FF2B5EF4-FFF2-40B4-BE49-F238E27FC236}">
                <a16:creationId xmlns:a16="http://schemas.microsoft.com/office/drawing/2014/main" id="{CAB206F5-2D41-64F5-50FC-664AE241686C}"/>
              </a:ext>
            </a:extLst>
          </p:cNvPr>
          <p:cNvSpPr txBox="1"/>
          <p:nvPr/>
        </p:nvSpPr>
        <p:spPr>
          <a:xfrm>
            <a:off x="816078" y="1237177"/>
            <a:ext cx="1663212" cy="430887"/>
          </a:xfrm>
          <a:prstGeom prst="rect">
            <a:avLst/>
          </a:prstGeom>
          <a:noFill/>
        </p:spPr>
        <p:txBody>
          <a:bodyPr wrap="none" rtlCol="0">
            <a:spAutoFit/>
          </a:bodyPr>
          <a:lstStyle/>
          <a:p>
            <a:r>
              <a:rPr lang="en-IN" sz="2200" b="1" dirty="0"/>
              <a:t>Objective:04</a:t>
            </a:r>
          </a:p>
        </p:txBody>
      </p:sp>
      <p:pic>
        <p:nvPicPr>
          <p:cNvPr id="6" name="Picture 5">
            <a:extLst>
              <a:ext uri="{FF2B5EF4-FFF2-40B4-BE49-F238E27FC236}">
                <a16:creationId xmlns:a16="http://schemas.microsoft.com/office/drawing/2014/main" id="{920A7690-226F-6B66-A164-FD63FDD67E6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386916" y="1452621"/>
            <a:ext cx="3185651" cy="4493530"/>
          </a:xfrm>
          <a:prstGeom prst="rect">
            <a:avLst/>
          </a:prstGeom>
        </p:spPr>
      </p:pic>
      <p:sp>
        <p:nvSpPr>
          <p:cNvPr id="4" name="TextBox 3">
            <a:extLst>
              <a:ext uri="{FF2B5EF4-FFF2-40B4-BE49-F238E27FC236}">
                <a16:creationId xmlns:a16="http://schemas.microsoft.com/office/drawing/2014/main" id="{69DF9DB1-AA6B-1048-7F62-C70ED4B01558}"/>
              </a:ext>
            </a:extLst>
          </p:cNvPr>
          <p:cNvSpPr txBox="1"/>
          <p:nvPr/>
        </p:nvSpPr>
        <p:spPr>
          <a:xfrm>
            <a:off x="816078" y="1917291"/>
            <a:ext cx="7423354" cy="2308324"/>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Install SUMO </a:t>
            </a:r>
            <a:r>
              <a:rPr lang="en-US" dirty="0">
                <a:latin typeface="Times New Roman" panose="02020603050405020304" pitchFamily="18" charset="0"/>
                <a:cs typeface="Times New Roman" panose="02020603050405020304" pitchFamily="18" charset="0"/>
              </a:rPr>
              <a:t>: Installed SUMO and set up the environment to design and simulate the traffic intersection.</a:t>
            </a:r>
          </a:p>
          <a:p>
            <a:pPr algn="just"/>
            <a:r>
              <a:rPr lang="en-US" b="1" dirty="0">
                <a:latin typeface="Times New Roman" panose="02020603050405020304" pitchFamily="18" charset="0"/>
                <a:cs typeface="Times New Roman" panose="02020603050405020304" pitchFamily="18" charset="0"/>
              </a:rPr>
              <a:t>Simulation of Network : </a:t>
            </a:r>
            <a:r>
              <a:rPr lang="en-US" dirty="0">
                <a:latin typeface="Times New Roman" panose="02020603050405020304" pitchFamily="18" charset="0"/>
                <a:cs typeface="Times New Roman" panose="02020603050405020304" pitchFamily="18" charset="0"/>
              </a:rPr>
              <a:t>Built the 4-way intersection, added routes, and ran the traffic simulation in SUMO.</a:t>
            </a:r>
          </a:p>
          <a:p>
            <a:pPr algn="just"/>
            <a:r>
              <a:rPr lang="en-US" b="1" dirty="0">
                <a:latin typeface="Times New Roman" panose="02020603050405020304" pitchFamily="18" charset="0"/>
                <a:cs typeface="Times New Roman" panose="02020603050405020304" pitchFamily="18" charset="0"/>
              </a:rPr>
              <a:t>Integrate Python Code : </a:t>
            </a:r>
            <a:r>
              <a:rPr lang="en-US" dirty="0">
                <a:latin typeface="Times New Roman" panose="02020603050405020304" pitchFamily="18" charset="0"/>
                <a:cs typeface="Times New Roman" panose="02020603050405020304" pitchFamily="18" charset="0"/>
              </a:rPr>
              <a:t>Connected SUMO with Python using </a:t>
            </a:r>
            <a:r>
              <a:rPr lang="en-US" dirty="0" err="1">
                <a:latin typeface="Times New Roman" panose="02020603050405020304" pitchFamily="18" charset="0"/>
                <a:cs typeface="Times New Roman" panose="02020603050405020304" pitchFamily="18" charset="0"/>
              </a:rPr>
              <a:t>TraCI</a:t>
            </a:r>
            <a:r>
              <a:rPr lang="en-US" dirty="0">
                <a:latin typeface="Times New Roman" panose="02020603050405020304" pitchFamily="18" charset="0"/>
                <a:cs typeface="Times New Roman" panose="02020603050405020304" pitchFamily="18" charset="0"/>
              </a:rPr>
              <a:t> to apply adaptive traffic signal logic.</a:t>
            </a:r>
          </a:p>
          <a:p>
            <a:pPr algn="just"/>
            <a:r>
              <a:rPr lang="en-US" b="1" dirty="0">
                <a:latin typeface="Times New Roman" panose="02020603050405020304" pitchFamily="18" charset="0"/>
                <a:cs typeface="Times New Roman" panose="02020603050405020304" pitchFamily="18" charset="0"/>
              </a:rPr>
              <a:t>Evaluate the Results : </a:t>
            </a:r>
            <a:r>
              <a:rPr lang="en-US" dirty="0">
                <a:latin typeface="Times New Roman" panose="02020603050405020304" pitchFamily="18" charset="0"/>
                <a:cs typeface="Times New Roman" panose="02020603050405020304" pitchFamily="18" charset="0"/>
              </a:rPr>
              <a:t>Compared Baseline vs Adaptive AI performance using queues, green time, and dashboard graphs.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84148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820E2-2578-7531-689F-7B58813BDC6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9B6515C-9811-8506-1240-570E4063C0ED}"/>
              </a:ext>
            </a:extLst>
          </p:cNvPr>
          <p:cNvSpPr txBox="1"/>
          <p:nvPr/>
        </p:nvSpPr>
        <p:spPr>
          <a:xfrm>
            <a:off x="4021393" y="403123"/>
            <a:ext cx="4149213" cy="430887"/>
          </a:xfrm>
          <a:prstGeom prst="rect">
            <a:avLst/>
          </a:prstGeom>
          <a:noFill/>
        </p:spPr>
        <p:txBody>
          <a:bodyPr wrap="square" rtlCol="0">
            <a:spAutoFit/>
          </a:bodyPr>
          <a:lstStyle/>
          <a:p>
            <a:r>
              <a:rPr lang="en-IN" sz="2200" b="1" dirty="0">
                <a:latin typeface="Times New Roman" panose="02020603050405020304" pitchFamily="18" charset="0"/>
                <a:cs typeface="Times New Roman" panose="02020603050405020304" pitchFamily="18" charset="0"/>
              </a:rPr>
              <a:t>RESULTS AND DISCUSSIONS </a:t>
            </a:r>
          </a:p>
        </p:txBody>
      </p:sp>
      <p:pic>
        <p:nvPicPr>
          <p:cNvPr id="6" name="Picture 5">
            <a:extLst>
              <a:ext uri="{FF2B5EF4-FFF2-40B4-BE49-F238E27FC236}">
                <a16:creationId xmlns:a16="http://schemas.microsoft.com/office/drawing/2014/main" id="{B59A6782-117E-E49B-7D33-85E71CD229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2423" y="995730"/>
            <a:ext cx="4149213" cy="2432980"/>
          </a:xfrm>
          <a:prstGeom prst="rect">
            <a:avLst/>
          </a:prstGeom>
        </p:spPr>
      </p:pic>
      <p:pic>
        <p:nvPicPr>
          <p:cNvPr id="8" name="Picture 7">
            <a:extLst>
              <a:ext uri="{FF2B5EF4-FFF2-40B4-BE49-F238E27FC236}">
                <a16:creationId xmlns:a16="http://schemas.microsoft.com/office/drawing/2014/main" id="{B602F349-B366-C90C-29D7-0250579DE9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51636" y="995730"/>
            <a:ext cx="4546682" cy="2432980"/>
          </a:xfrm>
          <a:prstGeom prst="rect">
            <a:avLst/>
          </a:prstGeom>
        </p:spPr>
      </p:pic>
      <p:pic>
        <p:nvPicPr>
          <p:cNvPr id="10" name="Picture 9">
            <a:extLst>
              <a:ext uri="{FF2B5EF4-FFF2-40B4-BE49-F238E27FC236}">
                <a16:creationId xmlns:a16="http://schemas.microsoft.com/office/drawing/2014/main" id="{841EB8C2-C63B-D1EE-E064-0AE04995C0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74578" y="3428710"/>
            <a:ext cx="4802065" cy="2846433"/>
          </a:xfrm>
          <a:prstGeom prst="rect">
            <a:avLst/>
          </a:prstGeom>
        </p:spPr>
      </p:pic>
    </p:spTree>
    <p:extLst>
      <p:ext uri="{BB962C8B-B14F-4D97-AF65-F5344CB8AC3E}">
        <p14:creationId xmlns:p14="http://schemas.microsoft.com/office/powerpoint/2010/main" val="37628278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84AC9E-AF25-7E00-4A4E-42F7FD8AF844}"/>
              </a:ext>
            </a:extLst>
          </p:cNvPr>
          <p:cNvSpPr txBox="1"/>
          <p:nvPr/>
        </p:nvSpPr>
        <p:spPr>
          <a:xfrm>
            <a:off x="501162" y="386834"/>
            <a:ext cx="10500212" cy="369332"/>
          </a:xfrm>
          <a:prstGeom prst="rect">
            <a:avLst/>
          </a:prstGeom>
          <a:noFill/>
        </p:spPr>
        <p:txBody>
          <a:bodyPr wrap="square">
            <a:spAutoFit/>
          </a:bodyPr>
          <a:lstStyle/>
          <a:p>
            <a:pPr algn="ctr"/>
            <a:r>
              <a:rPr lang="en-IN" sz="1800" b="1" dirty="0">
                <a:latin typeface="Times New Roman" panose="02020603050405020304" pitchFamily="18" charset="0"/>
                <a:cs typeface="Times New Roman" panose="02020603050405020304" pitchFamily="18" charset="0"/>
              </a:rPr>
              <a:t> CONCLUSION</a:t>
            </a:r>
          </a:p>
        </p:txBody>
      </p:sp>
      <p:sp>
        <p:nvSpPr>
          <p:cNvPr id="5" name="TextBox 4">
            <a:extLst>
              <a:ext uri="{FF2B5EF4-FFF2-40B4-BE49-F238E27FC236}">
                <a16:creationId xmlns:a16="http://schemas.microsoft.com/office/drawing/2014/main" id="{FB9AF0A6-B03B-C595-5419-108521071639}"/>
              </a:ext>
            </a:extLst>
          </p:cNvPr>
          <p:cNvSpPr txBox="1"/>
          <p:nvPr/>
        </p:nvSpPr>
        <p:spPr>
          <a:xfrm>
            <a:off x="714009" y="1098683"/>
            <a:ext cx="10763982" cy="2616101"/>
          </a:xfrm>
          <a:prstGeom prst="rect">
            <a:avLst/>
          </a:prstGeom>
          <a:noFill/>
        </p:spPr>
        <p:txBody>
          <a:bodyPr wrap="square">
            <a:spAutoFit/>
          </a:bodyPr>
          <a:lstStyle/>
          <a:p>
            <a:pPr algn="just">
              <a:buNone/>
            </a:pPr>
            <a:r>
              <a:rPr lang="en-GB" dirty="0">
                <a:latin typeface="Times New Roman" panose="02020603050405020304" pitchFamily="18" charset="0"/>
                <a:cs typeface="Times New Roman" panose="02020603050405020304" pitchFamily="18" charset="0"/>
              </a:rPr>
              <a:t>In this project, we addressed the limitations of traditional fixed-time traffic signals by developing an AI-based adaptive Traffic Signal Processing system capable of responding to real-time traffic conditions. Guided by the objectives of accurate vehicle detection, dynamic signal switching, and system evaluation, we collected and annotated traffic data, trained a YOLO model for reliable vehicle counting, and designed an adaptive algorithm that allocates proportional green time, applies minimum thresholds, and rebalances the total cycle. Using SUMO and </a:t>
            </a:r>
            <a:r>
              <a:rPr lang="en-GB" dirty="0" err="1">
                <a:latin typeface="Times New Roman" panose="02020603050405020304" pitchFamily="18" charset="0"/>
                <a:cs typeface="Times New Roman" panose="02020603050405020304" pitchFamily="18" charset="0"/>
              </a:rPr>
              <a:t>TraCI</a:t>
            </a:r>
            <a:r>
              <a:rPr lang="en-GB" dirty="0">
                <a:latin typeface="Times New Roman" panose="02020603050405020304" pitchFamily="18" charset="0"/>
                <a:cs typeface="Times New Roman" panose="02020603050405020304" pitchFamily="18" charset="0"/>
              </a:rPr>
              <a:t>, the methodology was executed end-to-end—building the network, integrating the algorithm, and evaluating performance. The results show that the proposed system reduces congestion, improves traffic flow, and outperforms conventional signal </a:t>
            </a:r>
            <a:r>
              <a:rPr lang="en-GB" sz="2000" dirty="0">
                <a:latin typeface="Times New Roman" panose="02020603050405020304" pitchFamily="18" charset="0"/>
                <a:cs typeface="Times New Roman" panose="02020603050405020304" pitchFamily="18" charset="0"/>
              </a:rPr>
              <a:t>control</a:t>
            </a:r>
            <a:r>
              <a:rPr lang="en-GB" dirty="0">
                <a:latin typeface="Times New Roman" panose="02020603050405020304" pitchFamily="18" charset="0"/>
                <a:cs typeface="Times New Roman" panose="02020603050405020304" pitchFamily="18" charset="0"/>
              </a:rPr>
              <a:t>, fulfilling the goals outlined in the introduction, problem statement, and abstract while proving the effectiveness of the approach for future smart traffic management.</a:t>
            </a:r>
          </a:p>
        </p:txBody>
      </p:sp>
    </p:spTree>
    <p:extLst>
      <p:ext uri="{BB962C8B-B14F-4D97-AF65-F5344CB8AC3E}">
        <p14:creationId xmlns:p14="http://schemas.microsoft.com/office/powerpoint/2010/main" val="1016923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BB1621-AB27-6BC8-2ECD-F5A3FD7C9F5D}"/>
              </a:ext>
            </a:extLst>
          </p:cNvPr>
          <p:cNvSpPr txBox="1"/>
          <p:nvPr/>
        </p:nvSpPr>
        <p:spPr>
          <a:xfrm>
            <a:off x="10318423" y="6395243"/>
            <a:ext cx="1873577" cy="369332"/>
          </a:xfrm>
          <a:prstGeom prst="rect">
            <a:avLst/>
          </a:prstGeom>
          <a:noFill/>
        </p:spPr>
        <p:txBody>
          <a:bodyPr wrap="square">
            <a:spAutoFit/>
          </a:bodyPr>
          <a:lstStyle/>
          <a:p>
            <a:pPr algn="ctr"/>
            <a:r>
              <a:rPr lang="en-US" b="1" dirty="0">
                <a:latin typeface="Times New Roman" panose="02020603050405020304" pitchFamily="18" charset="0"/>
                <a:cs typeface="Times New Roman" panose="02020603050405020304" pitchFamily="18" charset="0"/>
              </a:rPr>
              <a:t>Slide no: 07</a:t>
            </a:r>
            <a:endParaRPr lang="en-IN" b="1"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D8264EEE-30F7-785A-2F6B-03F74D1445E0}"/>
              </a:ext>
            </a:extLst>
          </p:cNvPr>
          <p:cNvSpPr/>
          <p:nvPr/>
        </p:nvSpPr>
        <p:spPr>
          <a:xfrm>
            <a:off x="3092398" y="2109496"/>
            <a:ext cx="6007204" cy="1632944"/>
          </a:xfrm>
          <a:prstGeom prst="rect">
            <a:avLst/>
          </a:prstGeom>
          <a:noFill/>
          <a:effectLst>
            <a:outerShdw blurRad="50800" dist="38100" dir="2700000" algn="tl" rotWithShape="0">
              <a:prstClr val="black">
                <a:alpha val="40000"/>
              </a:prstClr>
            </a:outerShdw>
          </a:effectLst>
        </p:spPr>
        <p:txBody>
          <a:bodyPr wrap="none" lIns="91440" tIns="45720" rIns="91440" bIns="45720">
            <a:prstTxWarp prst="textChevron">
              <a:avLst/>
            </a:prstTxWarp>
            <a:spAutoFit/>
          </a:bodyPr>
          <a:lstStyle/>
          <a:p>
            <a:pPr algn="ctr"/>
            <a:r>
              <a:rPr lang="en-US"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Times New Roman" panose="02020603050405020304" pitchFamily="18" charset="0"/>
                <a:cs typeface="Times New Roman" panose="02020603050405020304" pitchFamily="18" charset="0"/>
              </a:rPr>
              <a:t>THANK YOU</a:t>
            </a:r>
            <a:endParaRPr lang="en-IN"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Tree>
    <p:extLst>
      <p:ext uri="{BB962C8B-B14F-4D97-AF65-F5344CB8AC3E}">
        <p14:creationId xmlns:p14="http://schemas.microsoft.com/office/powerpoint/2010/main" val="63063377"/>
      </p:ext>
    </p:extLst>
  </p:cSld>
  <p:clrMapOvr>
    <a:masterClrMapping/>
  </p:clrMapOvr>
</p:sld>
</file>

<file path=ppt/theme/theme1.xml><?xml version="1.0" encoding="utf-8"?>
<a:theme xmlns:a="http://schemas.openxmlformats.org/drawingml/2006/main" name="Retrospect">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2757</TotalTime>
  <Words>941</Words>
  <Application>Microsoft Office PowerPoint</Application>
  <PresentationFormat>Widescreen</PresentationFormat>
  <Paragraphs>90</Paragraphs>
  <Slides>12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Times New Roman</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harshitha sudhir</dc:creator>
  <cp:lastModifiedBy>harshitha reddy</cp:lastModifiedBy>
  <cp:revision>79</cp:revision>
  <dcterms:created xsi:type="dcterms:W3CDTF">2024-05-17T04:00:39Z</dcterms:created>
  <dcterms:modified xsi:type="dcterms:W3CDTF">2025-11-18T07:51:00Z</dcterms:modified>
</cp:coreProperties>
</file>